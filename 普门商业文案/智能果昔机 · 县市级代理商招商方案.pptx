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charts/chart3_1.xml" ContentType="application/vnd.openxmlformats-officedocument.drawingml.chart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 type="custom"/>
  <p:notesSz cx="12192000" cy="6858000"/>
  <p:embeddedFontLst>
    <p:embeddedFont>
      <p:font typeface="MiSans" charset="-122" pitchFamily="34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font" Target="fonts/font1.fntdata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ableStyles" Target="tableStyles.xml"/></Relationships>
</file>

<file path=ppt/charts/chart3_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plotArea>
      <c:layout/>
      <c:barChart>
        <c:barDir val="bar"/>
        <c:grouping val="clustered"/>
        <c:varyColors val="0"/>
        <c:ser>
          <c:idx val="0"/>
          <c:order val="0"/>
          <c:tx>
            <c:v>growth</c:v>
          </c:tx>
          <c:spPr>
            <a:solidFill>
              <a:srgbClr val="1E3B33"/>
            </a:solidFill>
          </c:spPr>
          <c:dLbls>
            <c:numFmt formatCode="0.0" sourceLinked="0"/>
            <c:txPr>
              <a:bodyPr/>
              <a:lstStyle/>
              <a:p>
                <a:pPr>
                  <a:defRPr sz="1200" noProof="1" b="0" i="0" u="none" strike="noStrike">
                    <a:solidFill>
                      <a:srgbClr val="1E3B33"/>
                    </a:solidFill>
                    <a:latin typeface="Arial"/>
                  </a:defRPr>
                </a:pPr>
                <a:endParaRPr lang="en-US" noProof="1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Lit>
              <c:ptCount val="5"/>
              <c:pt idx="0">
                <c:v>便利店零售额</c:v>
              </c:pt>
              <c:pt idx="1">
                <c:v>超市零售额</c:v>
              </c:pt>
              <c:pt idx="2">
                <c:v>乡村社零总额</c:v>
              </c:pt>
              <c:pt idx="3">
                <c:v>全国餐饮收入</c:v>
              </c:pt>
              <c:pt idx="4">
                <c:v>限额以上饮料类</c:v>
              </c:pt>
            </c:strLit>
          </c:cat>
          <c:val>
            <c:numLit>
              <c:formatCode>General</c:formatCode>
              <c:ptCount val="5"/>
              <c:pt idx="0">
                <c:v>5.5</c:v>
              </c:pt>
              <c:pt idx="1">
                <c:v>4.3</c:v>
              </c:pt>
              <c:pt idx="2">
                <c:v>4.1</c:v>
              </c:pt>
              <c:pt idx="3">
                <c:v>3.2</c:v>
              </c:pt>
              <c:pt idx="4">
                <c:v>1</c:v>
              </c:pt>
            </c:numLit>
          </c:val>
        </c:ser>
        <c:gapWidth val="56"/>
        <c:overlap val="0"/>
        <c:axId val="1"/>
        <c:axId val="2"/>
      </c:barChart>
      <c:catAx>
        <c:axId val="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low"/>
        <c:spPr>
          <a:ln w="12700">
            <a:solidFill>
              <a:srgbClr val="D9CFBB"/>
            </a:solidFill>
          </a:ln>
        </c:spPr>
        <c:txPr>
          <a:bodyPr/>
          <a:lstStyle/>
          <a:p>
            <a:pPr>
              <a:defRPr sz="1200" noProof="1" b="0" i="0" u="none" strike="noStrike">
                <a:solidFill>
                  <a:srgbClr val="2B2822"/>
                </a:solidFill>
                <a:latin typeface="MiSans"/>
              </a:defRPr>
            </a:pPr>
            <a:endParaRPr lang="en-US" noProof="1"/>
          </a:p>
        </c:txPr>
        <c:crossAx val="2"/>
        <c:crosses val="autoZero"/>
        <c:auto val="1"/>
        <c:lblAlgn val="ctr"/>
        <c:noMultiLvlLbl val="1"/>
      </c:catAx>
      <c:valAx>
        <c:axId val="2"/>
        <c:scaling>
          <c:orientation val="minMax"/>
          <c:max val="7"/>
          <c:min val="0"/>
        </c:scaling>
        <c:delete val="0"/>
        <c:axPos val="l"/>
        <c:majorGridlines>
          <c:spPr>
            <a:ln w="9525">
              <a:solidFill>
                <a:srgbClr val="D9CFBB"/>
              </a:solidFill>
              <a:prstDash val="dash"/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 noProof="1" b="0" i="0" u="none" strike="noStrike">
                <a:solidFill>
                  <a:srgbClr val="7A7264"/>
                </a:solidFill>
                <a:latin typeface="MiSans"/>
              </a:defRPr>
            </a:pPr>
            <a:endParaRPr lang="en-US" noProof="1"/>
          </a:p>
        </c:txPr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noProof="1" b="0" i="0" u="none" strike="noStrike">
          <a:latin typeface="MiSans"/>
        </a:defRPr>
      </a:pPr>
      <a:endParaRPr lang="en-US" noProof="1"/>
    </a:p>
  </c:txPr>
</c:chartSpace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_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3_1.xml"/><Relationship Id="rId3" Type="http://schemas.openxmlformats.org/officeDocument/2006/relationships/hyperlink" Target="https://www.stats.gov.cn/sj/zxfb/202601/t20260119_1962323.html" TargetMode="External"/><Relationship Id="rId4" Type="http://schemas.openxmlformats.org/officeDocument/2006/relationships/hyperlink" Target="https://assets.kpmg.com/content/dam/kpmgsites/cn/pdf/zh/2025/06/china-convenience-store-development-report-2025.pdf.coredownload.inline.pdf" TargetMode="Externa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bain.com.cn/news_info.php?id=2026" TargetMode="External"/><Relationship Id="rId3" Type="http://schemas.openxmlformats.org/officeDocument/2006/relationships/hyperlink" Target="https://www.stats.gov.cn/sj/zxfb/202601/t20260119_1962323.html" TargetMode="Externa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_1.png"/><Relationship Id="rId3" Type="http://schemas.openxmlformats.org/officeDocument/2006/relationships/hyperlink" Target="https://assets.kpmg.com/content/dam/kpmgsites/cn/pdf/zh/2025/06/china-convenience-store-development-report-2025.pdf.coredownload.inline.pdf" TargetMode="Externa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_1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122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ro-img"/>
          <p:cNvPicPr/>
          <p:nvPr/>
        </p:nvPicPr>
        <p:blipFill>
          <a:blip r:embed="rId2"/>
          <a:srcRect l="8000" r="8000"/>
          <a:stretch>
            <a:fillRect/>
          </a:stretch>
        </p:blipFill>
        <p:spPr>
          <a:xfrm>
            <a:off x="6858000" y="0"/>
            <a:ext cx="5334000" cy="6858000"/>
          </a:xfrm>
          <a:prstGeom prst="rect">
            <a:avLst/>
          </a:prstGeom>
          <a:ln>
            <a:noFill/>
          </a:ln>
        </p:spPr>
      </p:pic>
      <p:sp>
        <p:nvSpPr>
          <p:cNvPr id="3" name="hero-shade"/>
          <p:cNvSpPr/>
          <p:nvPr/>
        </p:nvSpPr>
        <p:spPr>
          <a:xfrm>
            <a:off x="6858000" y="0"/>
            <a:ext cx="5334000" cy="6858000"/>
          </a:xfrm>
          <a:prstGeom prst="rect">
            <a:avLst/>
          </a:prstGeom>
          <a:gradFill rotWithShape="1">
            <a:gsLst>
              <a:gs pos="0">
                <a:srgbClr val="12251E">
                  <a:alpha val="80000"/>
                </a:srgbClr>
              </a:gs>
              <a:gs pos="35000">
                <a:srgbClr val="12251E">
                  <a:alpha val="20000"/>
                </a:srgbClr>
              </a:gs>
              <a:gs pos="100000">
                <a:srgbClr val="12251E">
                  <a:alpha val="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4" name="brand-line"/>
          <p:cNvSpPr txBox="1"/>
          <p:nvPr/>
        </p:nvSpPr>
        <p:spPr>
          <a:xfrm>
            <a:off x="812800" y="660400"/>
            <a:ext cx="584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 noProof="1" spc="200" kern="0">
                <a:solidFill>
                  <a:srgbClr val="C9BFA9"/>
                </a:solidFill>
                <a:latin typeface="MiSans"/>
                <a:ea typeface="MiSans"/>
              </a:rPr>
              <a:t>捷翔饮品（上海）· 智能果昔机原创发明人</a:t>
            </a:r>
            <a:endParaRPr lang="en-US" sz="1200" noProof="1"/>
          </a:p>
        </p:txBody>
      </p:sp>
      <p:sp>
        <p:nvSpPr>
          <p:cNvPr id="5" name="brand-rule"/>
          <p:cNvSpPr/>
          <p:nvPr>
            <p:extLst>
              <p:ext uri="{F5677B7D-0D2A-4D9B-9A5C-6D8D7D0E5A5D}">
                <pptd:line encoding="base64url">eyJ2aWV3Qm94IjpbMTIwLDJdLCJwb2ludHMiOiIwLDEgMTIwLDEifQ</pptd:line>
              </p:ext>
            </p:extLst>
          </p:nvPr>
        </p:nvSpPr>
        <p:spPr>
          <a:xfrm>
            <a:off x="812800" y="1092200"/>
            <a:ext cx="1524000" cy="25400"/>
          </a:xfrm>
          <a:custGeom>
            <a:avLst/>
            <a:gdLst/>
            <a:ahLst/>
            <a:cxnLst/>
            <a:rect l="l" t="t" r="r" b="b"/>
            <a:pathLst>
              <a:path w="120" h="2">
                <a:moveTo>
                  <a:pt x="0" y="1"/>
                </a:moveTo>
                <a:lnTo>
                  <a:pt x="120" y="1"/>
                </a:lnTo>
              </a:path>
            </a:pathLst>
          </a:custGeom>
          <a:noFill/>
          <a:ln w="19050" cap="rnd">
            <a:solidFill>
              <a:srgbClr val="C15F3C"/>
            </a:solidFill>
            <a:round/>
          </a:ln>
        </p:spPr>
      </p:sp>
      <p:sp>
        <p:nvSpPr>
          <p:cNvPr id="6" name="main-title"/>
          <p:cNvSpPr txBox="1"/>
          <p:nvPr/>
        </p:nvSpPr>
        <p:spPr>
          <a:xfrm>
            <a:off x="812800" y="1651000"/>
            <a:ext cx="6350000" cy="190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4600" noProof="1" b="1">
                <a:solidFill>
                  <a:srgbClr val="F6EFE2"/>
                </a:solidFill>
                <a:latin typeface="MiSans"/>
                <a:ea typeface="MiSans"/>
              </a:rPr>
              <a:t>智能果昔机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lang="en-US" sz="4600" noProof="1" b="1">
                <a:solidFill>
                  <a:srgbClr val="F6EFE2"/>
                </a:solidFill>
                <a:latin typeface="MiSans"/>
                <a:ea typeface="MiSans"/>
              </a:rPr>
              <a:t>县市级代理商</a:t>
            </a:r>
            <a:r>
              <a:rPr lang="en-US" sz="4600" noProof="1" b="1">
                <a:solidFill>
                  <a:srgbClr val="C15F3C"/>
                </a:solidFill>
                <a:latin typeface="MiSans"/>
                <a:ea typeface="MiSans"/>
              </a:rPr>
              <a:t>招商方案</a:t>
            </a:r>
            <a:endParaRPr lang="en-US" sz="1600" noProof="1"/>
          </a:p>
        </p:txBody>
      </p:sp>
      <p:sp>
        <p:nvSpPr>
          <p:cNvPr id="7" name="sub-title"/>
          <p:cNvSpPr txBox="1"/>
          <p:nvPr/>
        </p:nvSpPr>
        <p:spPr>
          <a:xfrm>
            <a:off x="812800" y="3759200"/>
            <a:ext cx="5969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500" noProof="1" spc="100" kern="0">
                <a:solidFill>
                  <a:srgbClr val="D8CFBC"/>
                </a:solidFill>
                <a:latin typeface="MiSans"/>
                <a:ea typeface="MiSans"/>
              </a:rPr>
              <a:t>三年期设备租赁 · 双品牌运营 · 免加盟费</a:t>
            </a:r>
            <a:endParaRPr lang="en-US" sz="1500" noProof="1"/>
          </a:p>
        </p:txBody>
      </p:sp>
      <p:sp>
        <p:nvSpPr>
          <p:cNvPr id="8" name="key-strip-rule"/>
          <p:cNvSpPr/>
          <p:nvPr>
            <p:extLst>
              <p:ext uri="{F5677B7D-0D2A-4D9B-9A5C-6D8D7D0E5A5D}">
                <pptd:line encoding="base64url">eyJ2aWV3Qm94IjpbNDQwLDJdLCJwb2ludHMiOiIwLDEgNDQwLDEifQ</pptd:line>
              </p:ext>
            </p:extLst>
          </p:nvPr>
        </p:nvSpPr>
        <p:spPr>
          <a:xfrm>
            <a:off x="812800" y="4724400"/>
            <a:ext cx="5588000" cy="25400"/>
          </a:xfrm>
          <a:custGeom>
            <a:avLst/>
            <a:gdLst/>
            <a:ahLst/>
            <a:cxnLst/>
            <a:rect l="l" t="t" r="r" b="b"/>
            <a:pathLst>
              <a:path w="440" h="2">
                <a:moveTo>
                  <a:pt x="0" y="1"/>
                </a:moveTo>
                <a:lnTo>
                  <a:pt x="440" y="1"/>
                </a:lnTo>
              </a:path>
            </a:pathLst>
          </a:custGeom>
          <a:noFill/>
          <a:ln w="12700" cap="rnd">
            <a:solidFill>
              <a:srgbClr val="3A574C"/>
            </a:solidFill>
            <a:round/>
          </a:ln>
        </p:spPr>
      </p:sp>
      <p:sp>
        <p:nvSpPr>
          <p:cNvPr id="9" name="key1"/>
          <p:cNvSpPr txBox="1"/>
          <p:nvPr/>
        </p:nvSpPr>
        <p:spPr>
          <a:xfrm>
            <a:off x="812800" y="4978400"/>
            <a:ext cx="13208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F6EFE2"/>
                </a:solidFill>
                <a:latin typeface="MiSans"/>
                <a:ea typeface="MiSans"/>
              </a:rPr>
              <a:t>0 元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lang="en-US" sz="1100" noProof="1">
                <a:solidFill>
                  <a:srgbClr val="C9BFA9"/>
                </a:solidFill>
                <a:latin typeface="MiSans"/>
                <a:ea typeface="MiSans"/>
              </a:rPr>
              <a:t>加盟费全部免收</a:t>
            </a:r>
            <a:endParaRPr lang="en-US" sz="1600" noProof="1"/>
          </a:p>
        </p:txBody>
      </p:sp>
      <p:sp>
        <p:nvSpPr>
          <p:cNvPr id="10" name="key2"/>
          <p:cNvSpPr txBox="1"/>
          <p:nvPr/>
        </p:nvSpPr>
        <p:spPr>
          <a:xfrm>
            <a:off x="2235200" y="4978400"/>
            <a:ext cx="14732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F6EFE2"/>
                </a:solidFill>
                <a:latin typeface="MiSans"/>
                <a:ea typeface="MiSans"/>
              </a:rPr>
              <a:t>6–10 万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lang="en-US" sz="1100" noProof="1">
                <a:solidFill>
                  <a:srgbClr val="C9BFA9"/>
                </a:solidFill>
                <a:latin typeface="MiSans"/>
                <a:ea typeface="MiSans"/>
              </a:rPr>
              <a:t>履约保证金</a:t>
            </a:r>
            <a:endParaRPr lang="en-US" sz="1600" noProof="1"/>
          </a:p>
        </p:txBody>
      </p:sp>
      <p:sp>
        <p:nvSpPr>
          <p:cNvPr id="11" name="key3"/>
          <p:cNvSpPr txBox="1"/>
          <p:nvPr/>
        </p:nvSpPr>
        <p:spPr>
          <a:xfrm>
            <a:off x="3810000" y="4978400"/>
            <a:ext cx="13208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F6EFE2"/>
                </a:solidFill>
                <a:latin typeface="MiSans"/>
                <a:ea typeface="MiSans"/>
              </a:rPr>
              <a:t>6–10 台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lang="en-US" sz="1100" noProof="1">
                <a:solidFill>
                  <a:srgbClr val="C9BFA9"/>
                </a:solidFill>
                <a:latin typeface="MiSans"/>
                <a:ea typeface="MiSans"/>
              </a:rPr>
              <a:t>首批租赁设备</a:t>
            </a:r>
            <a:endParaRPr lang="en-US" sz="1600" noProof="1"/>
          </a:p>
        </p:txBody>
      </p:sp>
      <p:sp>
        <p:nvSpPr>
          <p:cNvPr id="12" name="key4"/>
          <p:cNvSpPr txBox="1"/>
          <p:nvPr/>
        </p:nvSpPr>
        <p:spPr>
          <a:xfrm>
            <a:off x="5232400" y="4978400"/>
            <a:ext cx="13208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C15F3C"/>
                </a:solidFill>
                <a:latin typeface="MiSans"/>
                <a:ea typeface="MiSans"/>
              </a:rPr>
              <a:t>420 元起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lang="en-US" sz="1100" noProof="1">
                <a:solidFill>
                  <a:srgbClr val="C9BFA9"/>
                </a:solidFill>
                <a:latin typeface="MiSans"/>
                <a:ea typeface="MiSans"/>
              </a:rPr>
              <a:t>三年期月租金</a:t>
            </a:r>
            <a:endParaRPr lang="en-US" sz="1600" noProof="1"/>
          </a:p>
        </p:txBody>
      </p:sp>
      <p:sp>
        <p:nvSpPr>
          <p:cNvPr id="13" name="footer"/>
          <p:cNvSpPr txBox="1"/>
          <p:nvPr/>
        </p:nvSpPr>
        <p:spPr>
          <a:xfrm>
            <a:off x="812800" y="63500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8FA199"/>
                </a:solidFill>
                <a:latin typeface="MiSans"/>
                <a:ea typeface="MiSans"/>
              </a:rPr>
              <a:t>全国县市代理招商 ｜ 方案版本 V1.0（2026 年 8 月）｜ 联系人：王根祖</a:t>
            </a:r>
            <a:endParaRPr lang="en-US" sz="11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6EF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7112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 noProof="1" b="1" spc="300" kern="0">
                <a:solidFill>
                  <a:srgbClr val="C15F3C"/>
                </a:solidFill>
                <a:latin typeface="MiSans"/>
                <a:ea typeface="MiSans"/>
              </a:rPr>
              <a:t>我们的理念</a:t>
            </a:r>
            <a:endParaRPr lang="en-US" sz="1200" noProof="1"/>
          </a:p>
        </p:txBody>
      </p:sp>
      <p:sp>
        <p:nvSpPr>
          <p:cNvPr id="3" name="statement"/>
          <p:cNvSpPr txBox="1"/>
          <p:nvPr/>
        </p:nvSpPr>
        <p:spPr>
          <a:xfrm>
            <a:off x="812800" y="1219200"/>
            <a:ext cx="105664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3600" noProof="1" b="1">
                <a:solidFill>
                  <a:srgbClr val="1E3B33"/>
                </a:solidFill>
                <a:latin typeface="MiSans"/>
                <a:ea typeface="MiSans"/>
              </a:rPr>
              <a:t>代理商缺的不是新品，</a:t>
            </a:r>
            <a:r>
              <a:rPr lang="en-US" sz="3600" noProof="1" b="1">
                <a:solidFill>
                  <a:srgbClr val="C15F3C"/>
                </a:solidFill>
                <a:latin typeface="MiSans"/>
                <a:ea typeface="MiSans"/>
              </a:rPr>
              <a:t>而是确定性。</a:t>
            </a:r>
            <a:endParaRPr lang="en-US" sz="1600" noProof="1"/>
          </a:p>
        </p:txBody>
      </p:sp>
      <p:sp>
        <p:nvSpPr>
          <p:cNvPr id="4" name="sub"/>
          <p:cNvSpPr txBox="1"/>
          <p:nvPr/>
        </p:nvSpPr>
        <p:spPr>
          <a:xfrm>
            <a:off x="812800" y="2184400"/>
            <a:ext cx="96520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5000"/>
              </a:lnSpc>
            </a:pPr>
            <a:r>
              <a:rPr lang="en-US" sz="1500" noProof="1">
                <a:solidFill>
                  <a:srgbClr val="2B2822"/>
                </a:solidFill>
                <a:latin typeface="MiSans"/>
                <a:ea typeface="MiSans"/>
              </a:rPr>
              <a:t>本方案以「低门槛进场 + 设备租赁 + 耗材复购 + 区域保护」为核心，让代理商用现有团队多一条高毛利、可复购的业务线——最坏情况下，损失可控。</a:t>
            </a:r>
            <a:endParaRPr lang="en-US" sz="1500" noProof="1"/>
          </a:p>
        </p:txBody>
      </p:sp>
      <p:sp>
        <p:nvSpPr>
          <p:cNvPr id="5" name="rule1"/>
          <p:cNvSpPr/>
          <p:nvPr>
            <p:extLst>
              <p:ext uri="{F5677B7D-0D2A-4D9B-9A5C-6D8D7D0E5A5D}">
                <pptd:line encoding="base64url">eyJ2aWV3Qm94IjpbODMyLDJdLCJwb2ludHMiOiIwLDEgODMyLDEifQ</pptd:line>
              </p:ext>
            </p:extLst>
          </p:nvPr>
        </p:nvSpPr>
        <p:spPr>
          <a:xfrm>
            <a:off x="812800" y="3200400"/>
            <a:ext cx="10566400" cy="25400"/>
          </a:xfrm>
          <a:custGeom>
            <a:avLst/>
            <a:gdLst/>
            <a:ahLst/>
            <a:cxnLst/>
            <a:rect l="l" t="t" r="r" b="b"/>
            <a:pathLst>
              <a:path w="832" h="2">
                <a:moveTo>
                  <a:pt x="0" y="1"/>
                </a:moveTo>
                <a:lnTo>
                  <a:pt x="832" y="1"/>
                </a:lnTo>
              </a:path>
            </a:pathLst>
          </a:custGeom>
          <a:noFill/>
          <a:ln w="19050" cap="rnd">
            <a:solidFill>
              <a:srgbClr val="1E3B33"/>
            </a:solidFill>
            <a:round/>
          </a:ln>
        </p:spPr>
      </p:sp>
      <p:sp>
        <p:nvSpPr>
          <p:cNvPr id="6" name="f1-num"/>
          <p:cNvSpPr txBox="1"/>
          <p:nvPr/>
        </p:nvSpPr>
        <p:spPr>
          <a:xfrm>
            <a:off x="812800" y="3581400"/>
            <a:ext cx="19304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1E3B33"/>
                </a:solidFill>
                <a:latin typeface="MiSans"/>
                <a:ea typeface="MiSans"/>
              </a:rPr>
              <a:t>免加盟费</a:t>
            </a:r>
            <a:endParaRPr lang="en-US" sz="2600" noProof="1"/>
          </a:p>
        </p:txBody>
      </p:sp>
      <p:sp>
        <p:nvSpPr>
          <p:cNvPr id="7" name="f1-desc"/>
          <p:cNvSpPr txBox="1"/>
          <p:nvPr/>
        </p:nvSpPr>
        <p:spPr>
          <a:xfrm>
            <a:off x="812800" y="4191000"/>
            <a:ext cx="19304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7A7264"/>
                </a:solidFill>
                <a:latin typeface="MiSans"/>
                <a:ea typeface="MiSans"/>
              </a:rPr>
              <a:t>全部免收，保证金不等于加盟费，不抵扣设备款，期满无违约按约定退还</a:t>
            </a:r>
            <a:endParaRPr lang="en-US" sz="1050" noProof="1"/>
          </a:p>
        </p:txBody>
      </p:sp>
      <p:sp>
        <p:nvSpPr>
          <p:cNvPr id="8" name="div1"/>
          <p:cNvSpPr/>
          <p:nvPr>
            <p:extLst>
              <p:ext uri="{F5677B7D-0D2A-4D9B-9A5C-6D8D7D0E5A5D}">
                <pptd:line encoding="base64url">eyJ2aWV3Qm94IjpbMSwxMDRdLCJwb2ludHMiOiIwLjUsMCAwLjUsMTA0In0</pptd:line>
              </p:ext>
            </p:extLst>
          </p:nvPr>
        </p:nvSpPr>
        <p:spPr>
          <a:xfrm>
            <a:off x="2946400" y="3632200"/>
            <a:ext cx="12700" cy="1320800"/>
          </a:xfrm>
          <a:custGeom>
            <a:avLst/>
            <a:gdLst/>
            <a:ahLst/>
            <a:cxnLst/>
            <a:rect l="l" t="t" r="r" b="b"/>
            <a:pathLst>
              <a:path w="1" h="104">
                <a:moveTo>
                  <a:pt x="1" y="0"/>
                </a:moveTo>
                <a:lnTo>
                  <a:pt x="1" y="104"/>
                </a:lnTo>
              </a:path>
            </a:pathLst>
          </a:custGeom>
          <a:noFill/>
          <a:ln w="12700" cap="rnd">
            <a:solidFill>
              <a:srgbClr val="D9CFBB"/>
            </a:solidFill>
            <a:round/>
          </a:ln>
        </p:spPr>
      </p:sp>
      <p:sp>
        <p:nvSpPr>
          <p:cNvPr id="9" name="f2-num"/>
          <p:cNvSpPr txBox="1"/>
          <p:nvPr/>
        </p:nvSpPr>
        <p:spPr>
          <a:xfrm>
            <a:off x="3251200" y="3581400"/>
            <a:ext cx="19304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1E3B33"/>
                </a:solidFill>
                <a:latin typeface="MiSans"/>
                <a:ea typeface="MiSans"/>
              </a:rPr>
              <a:t>设备租赁</a:t>
            </a:r>
            <a:endParaRPr lang="en-US" sz="2600" noProof="1"/>
          </a:p>
        </p:txBody>
      </p:sp>
      <p:sp>
        <p:nvSpPr>
          <p:cNvPr id="10" name="f2-desc"/>
          <p:cNvSpPr txBox="1"/>
          <p:nvPr/>
        </p:nvSpPr>
        <p:spPr>
          <a:xfrm>
            <a:off x="3251200" y="4191000"/>
            <a:ext cx="19304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7A7264"/>
                </a:solidFill>
                <a:latin typeface="MiSans"/>
                <a:ea typeface="MiSans"/>
              </a:rPr>
              <a:t>我司融资购机，代理商免一次性大额设备投入，月租 420 元起，期满设备归代理商</a:t>
            </a:r>
            <a:endParaRPr lang="en-US" sz="1050" noProof="1"/>
          </a:p>
        </p:txBody>
      </p:sp>
      <p:sp>
        <p:nvSpPr>
          <p:cNvPr id="11" name="div2"/>
          <p:cNvSpPr/>
          <p:nvPr>
            <p:extLst>
              <p:ext uri="{F5677B7D-0D2A-4D9B-9A5C-6D8D7D0E5A5D}">
                <pptd:line encoding="base64url">eyJ2aWV3Qm94IjpbMSwxMDRdLCJwb2ludHMiOiIwLjUsMCAwLjUsMTA0In0</pptd:line>
              </p:ext>
            </p:extLst>
          </p:nvPr>
        </p:nvSpPr>
        <p:spPr>
          <a:xfrm>
            <a:off x="5384800" y="3632200"/>
            <a:ext cx="12700" cy="1320800"/>
          </a:xfrm>
          <a:custGeom>
            <a:avLst/>
            <a:gdLst/>
            <a:ahLst/>
            <a:cxnLst/>
            <a:rect l="l" t="t" r="r" b="b"/>
            <a:pathLst>
              <a:path w="1" h="104">
                <a:moveTo>
                  <a:pt x="1" y="0"/>
                </a:moveTo>
                <a:lnTo>
                  <a:pt x="1" y="104"/>
                </a:lnTo>
              </a:path>
            </a:pathLst>
          </a:custGeom>
          <a:noFill/>
          <a:ln w="12700" cap="rnd">
            <a:solidFill>
              <a:srgbClr val="D9CFBB"/>
            </a:solidFill>
            <a:round/>
          </a:ln>
        </p:spPr>
      </p:sp>
      <p:sp>
        <p:nvSpPr>
          <p:cNvPr id="12" name="f3-num"/>
          <p:cNvSpPr txBox="1"/>
          <p:nvPr/>
        </p:nvSpPr>
        <p:spPr>
          <a:xfrm>
            <a:off x="5689600" y="3581400"/>
            <a:ext cx="19304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1E3B33"/>
                </a:solidFill>
                <a:latin typeface="MiSans"/>
                <a:ea typeface="MiSans"/>
              </a:rPr>
              <a:t>耗材复购</a:t>
            </a:r>
            <a:endParaRPr lang="en-US" sz="2600" noProof="1"/>
          </a:p>
        </p:txBody>
      </p:sp>
      <p:sp>
        <p:nvSpPr>
          <p:cNvPr id="13" name="f3-desc"/>
          <p:cNvSpPr txBox="1"/>
          <p:nvPr/>
        </p:nvSpPr>
        <p:spPr>
          <a:xfrm>
            <a:off x="5689600" y="4191000"/>
            <a:ext cx="19304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7A7264"/>
                </a:solidFill>
                <a:latin typeface="MiSans"/>
                <a:ea typeface="MiSans"/>
              </a:rPr>
              <a:t>每一杯果杯 / 奶浆耗材由代理商持续供应，形成细水长流的第二利润源</a:t>
            </a:r>
            <a:endParaRPr lang="en-US" sz="1050" noProof="1"/>
          </a:p>
        </p:txBody>
      </p:sp>
      <p:sp>
        <p:nvSpPr>
          <p:cNvPr id="14" name="div3"/>
          <p:cNvSpPr/>
          <p:nvPr>
            <p:extLst>
              <p:ext uri="{F5677B7D-0D2A-4D9B-9A5C-6D8D7D0E5A5D}">
                <pptd:line encoding="base64url">eyJ2aWV3Qm94IjpbMSwxMDRdLCJwb2ludHMiOiIwLjUsMCAwLjUsMTA0In0</pptd:line>
              </p:ext>
            </p:extLst>
          </p:nvPr>
        </p:nvSpPr>
        <p:spPr>
          <a:xfrm>
            <a:off x="7823200" y="3632200"/>
            <a:ext cx="12700" cy="1320800"/>
          </a:xfrm>
          <a:custGeom>
            <a:avLst/>
            <a:gdLst/>
            <a:ahLst/>
            <a:cxnLst/>
            <a:rect l="l" t="t" r="r" b="b"/>
            <a:pathLst>
              <a:path w="1" h="104">
                <a:moveTo>
                  <a:pt x="1" y="0"/>
                </a:moveTo>
                <a:lnTo>
                  <a:pt x="1" y="104"/>
                </a:lnTo>
              </a:path>
            </a:pathLst>
          </a:custGeom>
          <a:noFill/>
          <a:ln w="12700" cap="rnd">
            <a:solidFill>
              <a:srgbClr val="D9CFBB"/>
            </a:solidFill>
            <a:round/>
          </a:ln>
        </p:spPr>
      </p:sp>
      <p:sp>
        <p:nvSpPr>
          <p:cNvPr id="15" name="f4-num"/>
          <p:cNvSpPr txBox="1"/>
          <p:nvPr/>
        </p:nvSpPr>
        <p:spPr>
          <a:xfrm>
            <a:off x="8128000" y="3581400"/>
            <a:ext cx="2032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C15F3C"/>
                </a:solidFill>
                <a:latin typeface="MiSans"/>
                <a:ea typeface="MiSans"/>
              </a:rPr>
              <a:t>达标后独家</a:t>
            </a:r>
            <a:endParaRPr lang="en-US" sz="2600" noProof="1"/>
          </a:p>
        </p:txBody>
      </p:sp>
      <p:sp>
        <p:nvSpPr>
          <p:cNvPr id="16" name="f4-desc"/>
          <p:cNvSpPr txBox="1"/>
          <p:nvPr/>
        </p:nvSpPr>
        <p:spPr>
          <a:xfrm>
            <a:off x="8128000" y="4191000"/>
            <a:ext cx="22352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7A7264"/>
                </a:solidFill>
                <a:latin typeface="MiSans"/>
                <a:ea typeface="MiSans"/>
              </a:rPr>
              <a:t>区域保护与活跃机数、有效杯量、回款率、服务 SLA 绑定，写进合同</a:t>
            </a:r>
            <a:endParaRPr lang="en-US" sz="1050" noProof="1"/>
          </a:p>
        </p:txBody>
      </p:sp>
      <p:sp>
        <p:nvSpPr>
          <p:cNvPr id="17" name="rule2"/>
          <p:cNvSpPr/>
          <p:nvPr>
            <p:extLst>
              <p:ext uri="{F5677B7D-0D2A-4D9B-9A5C-6D8D7D0E5A5D}">
                <pptd:line encoding="base64url">eyJ2aWV3Qm94IjpbODMyLDJdLCJwb2ludHMiOiIwLDEgODMyLDEifQ</pptd:line>
              </p:ext>
            </p:extLst>
          </p:nvPr>
        </p:nvSpPr>
        <p:spPr>
          <a:xfrm>
            <a:off x="812800" y="5384800"/>
            <a:ext cx="10566400" cy="25400"/>
          </a:xfrm>
          <a:custGeom>
            <a:avLst/>
            <a:gdLst/>
            <a:ahLst/>
            <a:cxnLst/>
            <a:rect l="l" t="t" r="r" b="b"/>
            <a:pathLst>
              <a:path w="832" h="2">
                <a:moveTo>
                  <a:pt x="0" y="1"/>
                </a:moveTo>
                <a:lnTo>
                  <a:pt x="832" y="1"/>
                </a:lnTo>
              </a:path>
            </a:pathLst>
          </a:custGeom>
          <a:noFill/>
          <a:ln w="12700" cap="rnd">
            <a:solidFill>
              <a:srgbClr val="D9CFBB"/>
            </a:solidFill>
            <a:round/>
          </a:ln>
        </p:spPr>
      </p:sp>
      <p:sp>
        <p:nvSpPr>
          <p:cNvPr id="18" name="footnote"/>
          <p:cNvSpPr txBox="1"/>
          <p:nvPr/>
        </p:nvSpPr>
        <p:spPr>
          <a:xfrm>
            <a:off x="812800" y="5689600"/>
            <a:ext cx="105664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7A7264"/>
                </a:solidFill>
                <a:latin typeface="MiSans"/>
                <a:ea typeface="MiSans"/>
              </a:rPr>
              <a:t>面向传统酒水、饮料、食品行业的代理商与批发商 ｜ 以县区为单位招商，全国县级行政区划均开放申请 ｜ 运营品牌：果音 · Hey Yogurt</a:t>
            </a:r>
            <a:endParaRPr lang="en-US" sz="105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6EF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6096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 noProof="1" b="1" spc="300" kern="0">
                <a:solidFill>
                  <a:srgbClr val="C15F3C"/>
                </a:solidFill>
                <a:latin typeface="MiSans"/>
                <a:ea typeface="MiSans"/>
              </a:rPr>
              <a:t>01 ｜ 市场机会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914400"/>
            <a:ext cx="105664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5000"/>
              </a:lnSpc>
            </a:pPr>
            <a:r>
              <a:rPr lang="en-US" sz="2800" noProof="1" b="1">
                <a:solidFill>
                  <a:srgbClr val="1E3B33"/>
                </a:solidFill>
                <a:latin typeface="MiSans"/>
                <a:ea typeface="MiSans"/>
              </a:rPr>
              <a:t>总量温和增长，单店进入效率战</a:t>
            </a:r>
            <a:endParaRPr lang="en-US" sz="2800" noProof="1"/>
          </a:p>
        </p:txBody>
      </p:sp>
      <p:graphicFrame>
        <p:nvGraphicFramePr>
          <p:cNvPr id="4" name="chart"/>
          <p:cNvGraphicFramePr/>
          <p:nvPr/>
        </p:nvGraphicFramePr>
        <p:xfrm>
          <a:off x="711200" y="1752600"/>
          <a:ext cx="5842000" cy="3810000"/>
        </p:xfrm>
        <a:graphic>
          <a:graphicData uri="http://schemas.openxmlformats.org/drawingml/2006/chart">
            <c:chart r:id="rId2"/>
          </a:graphicData>
        </a:graphic>
      </p:graphicFrame>
      <p:sp>
        <p:nvSpPr>
          <p:cNvPr id="5" name="chart-note"/>
          <p:cNvSpPr txBox="1"/>
          <p:nvPr/>
        </p:nvSpPr>
        <p:spPr>
          <a:xfrm>
            <a:off x="812800" y="5664200"/>
            <a:ext cx="558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7A7264"/>
                </a:solidFill>
                <a:latin typeface="MiSans"/>
                <a:ea typeface="MiSans"/>
              </a:rPr>
              <a:t>2025 年限额以上单位零售额及社零增速（%）</a:t>
            </a:r>
            <a:endParaRPr lang="en-US" sz="1050" noProof="1"/>
          </a:p>
        </p:txBody>
      </p:sp>
      <p:sp>
        <p:nvSpPr>
          <p:cNvPr id="6" name="right-rule"/>
          <p:cNvSpPr/>
          <p:nvPr>
            <p:extLst>
              <p:ext uri="{F5677B7D-0D2A-4D9B-9A5C-6D8D7D0E5A5D}">
                <pptd:line encoding="base64url">eyJ2aWV3Qm94IjpbMSwzMDBdLCJwb2ludHMiOiIwLjUsMCAwLjUsMzAwIn0</pptd:line>
              </p:ext>
            </p:extLst>
          </p:nvPr>
        </p:nvSpPr>
        <p:spPr>
          <a:xfrm>
            <a:off x="6959600" y="1879600"/>
            <a:ext cx="12700" cy="3810000"/>
          </a:xfrm>
          <a:custGeom>
            <a:avLst/>
            <a:gdLst/>
            <a:ahLst/>
            <a:cxnLst/>
            <a:rect l="l" t="t" r="r" b="b"/>
            <a:pathLst>
              <a:path w="1" h="300">
                <a:moveTo>
                  <a:pt x="1" y="0"/>
                </a:moveTo>
                <a:lnTo>
                  <a:pt x="1" y="300"/>
                </a:lnTo>
              </a:path>
            </a:pathLst>
          </a:custGeom>
          <a:noFill/>
          <a:ln w="12700" cap="rnd">
            <a:solidFill>
              <a:srgbClr val="D9CFBB"/>
            </a:solidFill>
            <a:round/>
          </a:ln>
        </p:spPr>
      </p:sp>
      <p:sp>
        <p:nvSpPr>
          <p:cNvPr id="7" name="r1-num"/>
          <p:cNvSpPr txBox="1"/>
          <p:nvPr/>
        </p:nvSpPr>
        <p:spPr>
          <a:xfrm>
            <a:off x="7315200" y="1778000"/>
            <a:ext cx="4064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b"/>
          <a:lstStyle/>
          <a:p>
            <a:pPr algn="l">
              <a:lnSpc>
                <a:spcPct val="120000"/>
              </a:lnSpc>
            </a:pPr>
            <a:r>
              <a:rPr lang="en-US" sz="3000" noProof="1" b="1">
                <a:solidFill>
                  <a:srgbClr val="1E3B33"/>
                </a:solidFill>
                <a:latin typeface="MiSans"/>
                <a:ea typeface="MiSans"/>
              </a:rPr>
              <a:t>57,982 亿元</a:t>
            </a:r>
            <a:endParaRPr lang="en-US" sz="1600" noProof="1"/>
          </a:p>
        </p:txBody>
      </p:sp>
      <p:sp>
        <p:nvSpPr>
          <p:cNvPr id="8" name="r1-desc"/>
          <p:cNvSpPr txBox="1"/>
          <p:nvPr/>
        </p:nvSpPr>
        <p:spPr>
          <a:xfrm>
            <a:off x="7315200" y="2336800"/>
            <a:ext cx="4064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7A7264"/>
                </a:solidFill>
                <a:latin typeface="MiSans"/>
                <a:ea typeface="MiSans"/>
              </a:rPr>
              <a:t>2025 年全国餐饮收入，同比 +3.2%。仍增长，但增速放缓，餐企更看重确定回报。</a:t>
            </a:r>
            <a:endParaRPr lang="en-US" sz="1150" noProof="1"/>
          </a:p>
        </p:txBody>
      </p:sp>
      <p:sp>
        <p:nvSpPr>
          <p:cNvPr id="9" name="r2-num"/>
          <p:cNvSpPr txBox="1"/>
          <p:nvPr/>
        </p:nvSpPr>
        <p:spPr>
          <a:xfrm>
            <a:off x="7315200" y="2997200"/>
            <a:ext cx="4064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b"/>
          <a:lstStyle/>
          <a:p>
            <a:pPr algn="l">
              <a:lnSpc>
                <a:spcPct val="120000"/>
              </a:lnSpc>
            </a:pPr>
            <a:r>
              <a:rPr lang="en-US" sz="3000" noProof="1" b="1">
                <a:solidFill>
                  <a:srgbClr val="C15F3C"/>
                </a:solidFill>
                <a:latin typeface="MiSans"/>
                <a:ea typeface="MiSans"/>
              </a:rPr>
              <a:t>4,634 元 / 天</a:t>
            </a:r>
            <a:endParaRPr lang="en-US" sz="1600" noProof="1"/>
          </a:p>
        </p:txBody>
      </p:sp>
      <p:sp>
        <p:nvSpPr>
          <p:cNvPr id="10" name="r2-desc"/>
          <p:cNvSpPr txBox="1"/>
          <p:nvPr/>
        </p:nvSpPr>
        <p:spPr>
          <a:xfrm>
            <a:off x="7315200" y="3556000"/>
            <a:ext cx="4064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7A7264"/>
                </a:solidFill>
                <a:latin typeface="MiSans"/>
                <a:ea typeface="MiSans"/>
              </a:rPr>
              <a:t>2024 年样本便利店单店日销，坪效同比 -7.1%。门店继续开，单店效率承压。</a:t>
            </a:r>
            <a:endParaRPr lang="en-US" sz="1150" noProof="1"/>
          </a:p>
        </p:txBody>
      </p:sp>
      <p:sp>
        <p:nvSpPr>
          <p:cNvPr id="11" name="r3-num"/>
          <p:cNvSpPr txBox="1"/>
          <p:nvPr/>
        </p:nvSpPr>
        <p:spPr>
          <a:xfrm>
            <a:off x="7315200" y="4216400"/>
            <a:ext cx="4064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b"/>
          <a:lstStyle/>
          <a:p>
            <a:pPr algn="l">
              <a:lnSpc>
                <a:spcPct val="120000"/>
              </a:lnSpc>
            </a:pPr>
            <a:r>
              <a:rPr lang="en-US" sz="3000" noProof="1" b="1">
                <a:solidFill>
                  <a:srgbClr val="1E3B33"/>
                </a:solidFill>
                <a:latin typeface="MiSans"/>
                <a:ea typeface="MiSans"/>
              </a:rPr>
              <a:t>+1.0%</a:t>
            </a:r>
            <a:endParaRPr lang="en-US" sz="1600" noProof="1"/>
          </a:p>
        </p:txBody>
      </p:sp>
      <p:sp>
        <p:nvSpPr>
          <p:cNvPr id="12" name="r3-desc"/>
          <p:cNvSpPr txBox="1"/>
          <p:nvPr/>
        </p:nvSpPr>
        <p:spPr>
          <a:xfrm>
            <a:off x="7315200" y="4775200"/>
            <a:ext cx="4064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7A7264"/>
                </a:solidFill>
                <a:latin typeface="MiSans"/>
                <a:ea typeface="MiSans"/>
              </a:rPr>
              <a:t>限额以上饮料类增速。包装饮料价值增长偏弱，现制饮品要靠体验和效率突围。</a:t>
            </a:r>
            <a:endParaRPr lang="en-US" sz="1150" noProof="1"/>
          </a:p>
        </p:txBody>
      </p:sp>
      <p:sp>
        <p:nvSpPr>
          <p:cNvPr id="13" name="source"/>
          <p:cNvSpPr txBox="1"/>
          <p:nvPr/>
        </p:nvSpPr>
        <p:spPr>
          <a:xfrm>
            <a:off x="812800" y="6299200"/>
            <a:ext cx="105664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7A7264"/>
                </a:solidFill>
                <a:latin typeface="MiSans"/>
                <a:ea typeface="MiSans"/>
              </a:rPr>
              <a:t>资料来源：</a:t>
            </a:r>
            <a:r>
              <a:rPr lang="en-US" sz="1050" noProof="1" u="sng">
                <a:solidFill>
                  <a:srgbClr val="0563C1"/>
                </a:solidFill>
                <a:latin typeface="MiSans"/>
                <a:ea typeface="MiSans"/>
                <a:hlinkClick r:id="rId3"/>
              </a:rPr>
              <a:t>国家统计局《2025年12月份社会消费品零售总额》</a:t>
            </a:r>
            <a:r>
              <a:rPr lang="en-US" sz="1050" noProof="1">
                <a:solidFill>
                  <a:srgbClr val="7A7264"/>
                </a:solidFill>
                <a:latin typeface="MiSans"/>
                <a:ea typeface="MiSans"/>
              </a:rPr>
              <a:t>；</a:t>
            </a:r>
            <a:r>
              <a:rPr lang="en-US" sz="1050" noProof="1" u="sng">
                <a:solidFill>
                  <a:srgbClr val="0563C1"/>
                </a:solidFill>
                <a:latin typeface="MiSans"/>
                <a:ea typeface="MiSans"/>
                <a:hlinkClick r:id="rId4"/>
              </a:rPr>
              <a:t>CCFA/KPMG《2025年中国便利店发展报告》</a:t>
            </a:r>
            <a:r>
              <a:rPr lang="en-US" sz="1050" noProof="1">
                <a:solidFill>
                  <a:srgbClr val="7A7264"/>
                </a:solidFill>
                <a:latin typeface="MiSans"/>
                <a:ea typeface="MiSans"/>
              </a:rPr>
              <a:t>。不同统计指标口径不同，不应直接相加。</a:t>
            </a:r>
            <a:endParaRPr lang="en-US" sz="105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122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6096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 noProof="1" b="1" spc="300" kern="0">
                <a:solidFill>
                  <a:srgbClr val="D9A05B"/>
                </a:solidFill>
                <a:latin typeface="MiSans"/>
                <a:ea typeface="MiSans"/>
              </a:rPr>
              <a:t>01 ｜ 市场机会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914400"/>
            <a:ext cx="105664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5000"/>
              </a:lnSpc>
            </a:pPr>
            <a:r>
              <a:rPr lang="en-US" sz="2800" noProof="1" b="1">
                <a:solidFill>
                  <a:srgbClr val="F6EFE2"/>
                </a:solidFill>
                <a:latin typeface="MiSans"/>
                <a:ea typeface="MiSans"/>
              </a:rPr>
              <a:t>增长正在向下沉市场集中</a:t>
            </a:r>
            <a:endParaRPr lang="en-US" sz="2800" noProof="1"/>
          </a:p>
        </p:txBody>
      </p:sp>
      <p:sp>
        <p:nvSpPr>
          <p:cNvPr id="4" name="big-num"/>
          <p:cNvSpPr txBox="1"/>
          <p:nvPr/>
        </p:nvSpPr>
        <p:spPr>
          <a:xfrm>
            <a:off x="812800" y="1905000"/>
            <a:ext cx="4572000" cy="16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1000" noProof="1" b="1">
                <a:solidFill>
                  <a:srgbClr val="C15F3C"/>
                </a:solidFill>
                <a:latin typeface="MiSans"/>
                <a:ea typeface="MiSans"/>
              </a:rPr>
              <a:t>80%</a:t>
            </a:r>
            <a:endParaRPr lang="en-US" sz="1600" noProof="1"/>
          </a:p>
        </p:txBody>
      </p:sp>
      <p:sp>
        <p:nvSpPr>
          <p:cNvPr id="5" name="big-num-desc"/>
          <p:cNvSpPr txBox="1"/>
          <p:nvPr/>
        </p:nvSpPr>
        <p:spPr>
          <a:xfrm>
            <a:off x="812800" y="3708400"/>
            <a:ext cx="4318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400" noProof="1">
                <a:solidFill>
                  <a:srgbClr val="D8CFBC"/>
                </a:solidFill>
                <a:latin typeface="MiSans"/>
                <a:ea typeface="MiSans"/>
              </a:rPr>
              <a:t>专业研究显示，三至五线城市贡献了 2025 年快消市场约 80% 的增长——县域布局有需求支撑。</a:t>
            </a:r>
            <a:endParaRPr lang="en-US" sz="1400" noProof="1"/>
          </a:p>
        </p:txBody>
      </p:sp>
      <p:sp>
        <p:nvSpPr>
          <p:cNvPr id="6" name="mid-rule"/>
          <p:cNvSpPr/>
          <p:nvPr>
            <p:extLst>
              <p:ext uri="{F5677B7D-0D2A-4D9B-9A5C-6D8D7D0E5A5D}">
                <pptd:line encoding="base64url">eyJ2aWV3Qm94IjpbMSwzMDBdLCJwb2ludHMiOiIwLjUsMCAwLjUsMzAwIn0</pptd:line>
              </p:ext>
            </p:extLst>
          </p:nvPr>
        </p:nvSpPr>
        <p:spPr>
          <a:xfrm>
            <a:off x="5588000" y="1905000"/>
            <a:ext cx="12700" cy="3810000"/>
          </a:xfrm>
          <a:custGeom>
            <a:avLst/>
            <a:gdLst/>
            <a:ahLst/>
            <a:cxnLst/>
            <a:rect l="l" t="t" r="r" b="b"/>
            <a:pathLst>
              <a:path w="1" h="300">
                <a:moveTo>
                  <a:pt x="1" y="0"/>
                </a:moveTo>
                <a:lnTo>
                  <a:pt x="1" y="300"/>
                </a:lnTo>
              </a:path>
            </a:pathLst>
          </a:custGeom>
          <a:noFill/>
          <a:ln w="12700" cap="rnd">
            <a:solidFill>
              <a:srgbClr val="3A574C"/>
            </a:solidFill>
            <a:round/>
          </a:ln>
        </p:spPr>
      </p:sp>
      <p:sp>
        <p:nvSpPr>
          <p:cNvPr id="7" name="c1-label"/>
          <p:cNvSpPr txBox="1"/>
          <p:nvPr/>
        </p:nvSpPr>
        <p:spPr>
          <a:xfrm>
            <a:off x="5994400" y="1905000"/>
            <a:ext cx="53848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C9BFA9"/>
                </a:solidFill>
                <a:latin typeface="MiSans"/>
                <a:ea typeface="MiSans"/>
              </a:rPr>
              <a:t>量增价减，成为新常态</a:t>
            </a:r>
            <a:endParaRPr lang="en-US" sz="1300" noProof="1"/>
          </a:p>
        </p:txBody>
      </p:sp>
      <p:sp>
        <p:nvSpPr>
          <p:cNvPr id="8" name="c1-body"/>
          <p:cNvSpPr txBox="1"/>
          <p:nvPr/>
        </p:nvSpPr>
        <p:spPr>
          <a:xfrm>
            <a:off x="5994400" y="2235200"/>
            <a:ext cx="53848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250" noProof="1">
                <a:solidFill>
                  <a:srgbClr val="A9B8B0"/>
                </a:solidFill>
                <a:latin typeface="MiSans"/>
                <a:ea typeface="MiSans"/>
              </a:rPr>
              <a:t>2025 年前三季度城市快消销量 +3.8%、平均售价 -2.4%。增长靠走量，不靠提价。</a:t>
            </a:r>
            <a:endParaRPr lang="en-US" sz="1250" noProof="1"/>
          </a:p>
        </p:txBody>
      </p:sp>
      <p:sp>
        <p:nvSpPr>
          <p:cNvPr id="9" name="c2-label"/>
          <p:cNvSpPr txBox="1"/>
          <p:nvPr/>
        </p:nvSpPr>
        <p:spPr>
          <a:xfrm>
            <a:off x="5994400" y="3098800"/>
            <a:ext cx="53848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C9BFA9"/>
                </a:solidFill>
                <a:latin typeface="MiSans"/>
                <a:ea typeface="MiSans"/>
              </a:rPr>
              <a:t>消费者追求「质价比」</a:t>
            </a:r>
            <a:endParaRPr lang="en-US" sz="1300" noProof="1"/>
          </a:p>
        </p:txBody>
      </p:sp>
      <p:sp>
        <p:nvSpPr>
          <p:cNvPr id="10" name="c2-body"/>
          <p:cNvSpPr txBox="1"/>
          <p:nvPr/>
        </p:nvSpPr>
        <p:spPr>
          <a:xfrm>
            <a:off x="5994400" y="3429000"/>
            <a:ext cx="53848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250" noProof="1">
                <a:solidFill>
                  <a:srgbClr val="A9B8B0"/>
                </a:solidFill>
                <a:latin typeface="MiSans"/>
                <a:ea typeface="MiSans"/>
              </a:rPr>
              <a:t>新鲜感、便利性、稳定品质与可接受价格必须同时成立——现制果昔正中这一需求。</a:t>
            </a:r>
            <a:endParaRPr lang="en-US" sz="1250" noProof="1"/>
          </a:p>
        </p:txBody>
      </p:sp>
      <p:sp>
        <p:nvSpPr>
          <p:cNvPr id="11" name="c3-label"/>
          <p:cNvSpPr txBox="1"/>
          <p:nvPr/>
        </p:nvSpPr>
        <p:spPr>
          <a:xfrm>
            <a:off x="5994400" y="4292600"/>
            <a:ext cx="53848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C9BFA9"/>
                </a:solidFill>
                <a:latin typeface="MiSans"/>
                <a:ea typeface="MiSans"/>
              </a:rPr>
              <a:t>县域并非没有消费力</a:t>
            </a:r>
            <a:endParaRPr lang="en-US" sz="1300" noProof="1"/>
          </a:p>
        </p:txBody>
      </p:sp>
      <p:sp>
        <p:nvSpPr>
          <p:cNvPr id="12" name="c3-body"/>
          <p:cNvSpPr txBox="1"/>
          <p:nvPr/>
        </p:nvSpPr>
        <p:spPr>
          <a:xfrm>
            <a:off x="5994400" y="4622800"/>
            <a:ext cx="53848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250" noProof="1">
                <a:solidFill>
                  <a:srgbClr val="A9B8B0"/>
                </a:solidFill>
                <a:latin typeface="MiSans"/>
                <a:ea typeface="MiSans"/>
              </a:rPr>
              <a:t>2025 年乡村社零 68,230 亿元、同比 +4.1%，但价格带更敏感，产品定价必须落在本地接受区间。</a:t>
            </a:r>
            <a:endParaRPr lang="en-US" sz="1250" noProof="1"/>
          </a:p>
        </p:txBody>
      </p:sp>
      <p:sp>
        <p:nvSpPr>
          <p:cNvPr id="13" name="conclusion"/>
          <p:cNvSpPr txBox="1"/>
          <p:nvPr/>
        </p:nvSpPr>
        <p:spPr>
          <a:xfrm>
            <a:off x="812800" y="5740400"/>
            <a:ext cx="105664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500" noProof="1" b="1">
                <a:solidFill>
                  <a:srgbClr val="F6EFE2"/>
                </a:solidFill>
                <a:latin typeface="MiSans"/>
                <a:ea typeface="MiSans"/>
              </a:rPr>
              <a:t>结论：县域值得做，但必须用「符合当地价格带 + 低门槛计费」的方式做。</a:t>
            </a:r>
            <a:endParaRPr lang="en-US" sz="1600" noProof="1"/>
          </a:p>
        </p:txBody>
      </p:sp>
      <p:sp>
        <p:nvSpPr>
          <p:cNvPr id="14" name="source"/>
          <p:cNvSpPr txBox="1"/>
          <p:nvPr/>
        </p:nvSpPr>
        <p:spPr>
          <a:xfrm>
            <a:off x="812800" y="6299200"/>
            <a:ext cx="105664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000" noProof="1">
                <a:solidFill>
                  <a:srgbClr val="7E9088"/>
                </a:solidFill>
                <a:latin typeface="MiSans"/>
                <a:ea typeface="MiSans"/>
              </a:rPr>
              <a:t>资料来源：</a:t>
            </a:r>
            <a:r>
              <a:rPr lang="en-US" sz="1000" noProof="1" u="sng">
                <a:solidFill>
                  <a:srgbClr val="0563C1"/>
                </a:solidFill>
                <a:latin typeface="MiSans"/>
                <a:ea typeface="MiSans"/>
                <a:hlinkClick r:id="rId2"/>
              </a:rPr>
              <a:t>贝恩 / Worldpanel《2025年中国购物者报告》</a:t>
            </a:r>
            <a:r>
              <a:rPr lang="en-US" sz="1000" noProof="1">
                <a:solidFill>
                  <a:srgbClr val="7E9088"/>
                </a:solidFill>
                <a:latin typeface="MiSans"/>
                <a:ea typeface="MiSans"/>
              </a:rPr>
              <a:t>公开摘要；</a:t>
            </a:r>
            <a:r>
              <a:rPr lang="en-US" sz="1000" noProof="1" u="sng">
                <a:solidFill>
                  <a:srgbClr val="0563C1"/>
                </a:solidFill>
                <a:latin typeface="MiSans"/>
                <a:ea typeface="MiSans"/>
                <a:hlinkClick r:id="rId3"/>
              </a:rPr>
              <a:t>国家统计局社零数据</a:t>
            </a:r>
            <a:r>
              <a:rPr lang="en-US" sz="1000" noProof="1">
                <a:solidFill>
                  <a:srgbClr val="7E9088"/>
                </a:solidFill>
                <a:latin typeface="MiSans"/>
                <a:ea typeface="MiSans"/>
              </a:rPr>
              <a:t>。</a:t>
            </a:r>
            <a:endParaRPr lang="en-US" sz="10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6EF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6096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 noProof="1" b="1" spc="300" kern="0">
                <a:solidFill>
                  <a:srgbClr val="C15F3C"/>
                </a:solidFill>
                <a:latin typeface="MiSans"/>
                <a:ea typeface="MiSans"/>
              </a:rPr>
              <a:t>02 ｜ 痛点回应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914400"/>
            <a:ext cx="105664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5000"/>
              </a:lnSpc>
            </a:pPr>
            <a:r>
              <a:rPr lang="en-US" sz="2800" noProof="1" b="1">
                <a:solidFill>
                  <a:srgbClr val="1E3B33"/>
                </a:solidFill>
                <a:latin typeface="MiSans"/>
                <a:ea typeface="MiSans"/>
              </a:rPr>
              <a:t>代理商的七个担心，本方案逐条回应</a:t>
            </a:r>
            <a:endParaRPr lang="en-US" sz="2800" noProof="1"/>
          </a:p>
        </p:txBody>
      </p:sp>
      <p:sp>
        <p:nvSpPr>
          <p:cNvPr id="4" name="subtitle"/>
          <p:cNvSpPr txBox="1"/>
          <p:nvPr/>
        </p:nvSpPr>
        <p:spPr>
          <a:xfrm>
            <a:off x="812800" y="1473200"/>
            <a:ext cx="10566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7A7264"/>
                </a:solidFill>
                <a:latin typeface="MiSans"/>
                <a:ea typeface="MiSans"/>
              </a:rPr>
              <a:t>渠道调研显示，代理商的核心恐惧有明确的次序——我们的政策设计正是围绕这些恐惧展开。</a:t>
            </a:r>
            <a:endParaRPr lang="en-US" sz="1200" noProof="1"/>
          </a:p>
        </p:txBody>
      </p:sp>
      <p:graphicFrame>
        <p:nvGraphicFramePr>
          <p:cNvPr id="5" name="table"/>
          <p:cNvGraphicFramePr>
            <a:graphicFrameLocks noGrp="1"/>
          </p:cNvGraphicFramePr>
          <p:nvPr/>
        </p:nvGraphicFramePr>
        <p:xfrm>
          <a:off x="812800" y="1930400"/>
          <a:ext cx="10566400" cy="4191000"/>
        </p:xfrm>
        <a:graphic>
          <a:graphicData uri="http://schemas.openxmlformats.org/drawingml/2006/table">
            <a:tbl>
              <a:tblPr/>
              <a:tblGrid>
                <a:gridCol w="3169920"/>
                <a:gridCol w="7396480"/>
              </a:tblGrid>
              <a:tr h="41910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300" noProof="1" b="1">
                          <a:solidFill>
                            <a:srgbClr val="1E3B33"/>
                          </a:solidFill>
                          <a:latin typeface="Times New Roman"/>
                          <a:ea typeface="Times New Roman"/>
                        </a:rPr>
                        <a:t>代理商的担心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E3B33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300" noProof="1" b="1">
                          <a:solidFill>
                            <a:srgbClr val="1E3B33"/>
                          </a:solidFill>
                          <a:latin typeface="Times New Roman"/>
                          <a:ea typeface="Times New Roman"/>
                        </a:rPr>
                        <a:t>本方案的设计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E3B33"/>
                      </a:solidFill>
                    </a:lnB>
                    <a:noFill/>
                  </a:tcPr>
                </a:tc>
              </a:tr>
              <a:tr h="538963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>
                          <a:solidFill>
                            <a:srgbClr val="2B2822"/>
                          </a:solidFill>
                          <a:latin typeface="Times New Roman"/>
                          <a:ea typeface="Times New Roman"/>
                        </a:rPr>
                        <a:t>机器砸在手里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>
                          <a:solidFill>
                            <a:srgbClr val="2B2822"/>
                          </a:solidFill>
                          <a:latin typeface="Times New Roman"/>
                          <a:ea typeface="Times New Roman"/>
                        </a:rPr>
                        <a:t>设备租赁而非买断，首批仅 6–10 台；达标后按销量增配，不达标有迁点与退出机制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</a:tr>
              <a:tr h="538963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>
                          <a:solidFill>
                            <a:srgbClr val="2B2822"/>
                          </a:solidFill>
                          <a:latin typeface="Times New Roman"/>
                          <a:ea typeface="Times New Roman"/>
                        </a:rPr>
                        <a:t>终端不动销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>
                          <a:solidFill>
                            <a:srgbClr val="2B2822"/>
                          </a:solidFill>
                          <a:latin typeface="Times New Roman"/>
                          <a:ea typeface="Times New Roman"/>
                        </a:rPr>
                        <a:t>用活跃机数、点位杯量中位数考核动销；低效点位 30 天内迁移，不让已签门店绑架设备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</a:tr>
              <a:tr h="538963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>
                          <a:solidFill>
                            <a:srgbClr val="2B2822"/>
                          </a:solidFill>
                          <a:latin typeface="Times New Roman"/>
                          <a:ea typeface="Times New Roman"/>
                        </a:rPr>
                        <a:t>售后把自己拖垮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>
                          <a:solidFill>
                            <a:srgbClr val="2B2822"/>
                          </a:solidFill>
                          <a:latin typeface="Times New Roman"/>
                          <a:ea typeface="Times New Roman"/>
                        </a:rPr>
                        <a:t>整机质保 15 个月，我司负责换件与返厂维修；SaaS 远程诊断销量、温度与故障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</a:tr>
              <a:tr h="538963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>
                          <a:solidFill>
                            <a:srgbClr val="2B2822"/>
                          </a:solidFill>
                          <a:latin typeface="Times New Roman"/>
                          <a:ea typeface="Times New Roman"/>
                        </a:rPr>
                        <a:t>原料临期损耗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>
                          <a:solidFill>
                            <a:srgbClr val="2B2822"/>
                          </a:solidFill>
                          <a:latin typeface="Times New Roman"/>
                          <a:ea typeface="Times New Roman"/>
                        </a:rPr>
                        <a:t>果杯 / 奶浆按品牌标准统一供应，效期预警、批次追溯，小批量高频补货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</a:tr>
              <a:tr h="538963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>
                          <a:solidFill>
                            <a:srgbClr val="2B2822"/>
                          </a:solidFill>
                          <a:latin typeface="Times New Roman"/>
                          <a:ea typeface="Times New Roman"/>
                        </a:rPr>
                        <a:t>厂家跨区窜货、直营抢客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>
                          <a:solidFill>
                            <a:srgbClr val="2B2822"/>
                          </a:solidFill>
                          <a:latin typeface="Times New Roman"/>
                          <a:ea typeface="Times New Roman"/>
                        </a:rPr>
                        <a:t>区域保护、线索归属与价格体系写进合同；统一建议零售价、串码追踪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</a:tr>
              <a:tr h="538963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>
                          <a:solidFill>
                            <a:srgbClr val="2B2822"/>
                          </a:solidFill>
                          <a:latin typeface="Times New Roman"/>
                          <a:ea typeface="Times New Roman"/>
                        </a:rPr>
                        <a:t>政策说变就变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>
                          <a:solidFill>
                            <a:srgbClr val="2B2822"/>
                          </a:solidFill>
                          <a:latin typeface="Times New Roman"/>
                          <a:ea typeface="Times New Roman"/>
                        </a:rPr>
                        <a:t>三年期租赁合同锁定租金与权责，期满设备归代理商所有，可续租或增配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</a:tr>
              <a:tr h="538124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>
                          <a:solidFill>
                            <a:srgbClr val="2B2822"/>
                          </a:solidFill>
                          <a:latin typeface="Times New Roman"/>
                          <a:ea typeface="Times New Roman"/>
                        </a:rPr>
                        <a:t>食品安全连带责任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>
                          <a:solidFill>
                            <a:srgbClr val="2B2822"/>
                          </a:solidFill>
                          <a:latin typeface="Times New Roman"/>
                          <a:ea typeface="Times New Roman"/>
                        </a:rPr>
                        <a:t>合规清单、温控记录、清洗 SOP 与批次追溯由系统留痕，明确责任边界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quote"/>
          <p:cNvSpPr txBox="1"/>
          <p:nvPr/>
        </p:nvSpPr>
        <p:spPr>
          <a:xfrm>
            <a:off x="812800" y="6299200"/>
            <a:ext cx="105664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7A7264"/>
                </a:solidFill>
                <a:latin typeface="MiSans"/>
                <a:ea typeface="MiSans"/>
              </a:rPr>
              <a:t>代理商真正的购买理由：</a:t>
            </a:r>
            <a:r>
              <a:rPr lang="en-US" sz="1150" noProof="1" b="1">
                <a:solidFill>
                  <a:srgbClr val="C15F3C"/>
                </a:solidFill>
                <a:latin typeface="MiSans"/>
                <a:ea typeface="MiSans"/>
              </a:rPr>
              <a:t>「用现有团队多一条高毛利、可复购的业务线，最坏情况下损失可控，厂家能解决设备与食品问题。」</a:t>
            </a:r>
            <a:endParaRPr lang="en-US" sz="115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6EF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6096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 noProof="1" b="1" spc="300" kern="0">
                <a:solidFill>
                  <a:srgbClr val="C15F3C"/>
                </a:solidFill>
                <a:latin typeface="MiSans"/>
                <a:ea typeface="MiSans"/>
              </a:rPr>
              <a:t>02 ｜ 痛点回应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914400"/>
            <a:ext cx="105664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5000"/>
              </a:lnSpc>
            </a:pPr>
            <a:r>
              <a:rPr lang="en-US" sz="2800" noProof="1" b="1">
                <a:solidFill>
                  <a:srgbClr val="1E3B33"/>
                </a:solidFill>
                <a:latin typeface="MiSans"/>
                <a:ea typeface="MiSans"/>
              </a:rPr>
              <a:t>终端门店只算三笔账：面积、人工、净收益</a:t>
            </a:r>
            <a:endParaRPr lang="en-US" sz="2800" noProof="1"/>
          </a:p>
        </p:txBody>
      </p:sp>
      <p:pic>
        <p:nvPicPr>
          <p:cNvPr id="4" name="store-img"/>
          <p:cNvPicPr/>
          <p:nvPr/>
        </p:nvPicPr>
        <p:blipFill>
          <a:blip r:embed="rId2"/>
          <a:srcRect t="0" b="0"/>
          <a:stretch>
            <a:fillRect/>
          </a:stretch>
        </p:blipFill>
        <p:spPr>
          <a:xfrm>
            <a:off x="812800" y="1778000"/>
            <a:ext cx="3810000" cy="2540000"/>
          </a:xfrm>
          <a:prstGeom prst="rect">
            <a:avLst/>
          </a:prstGeom>
          <a:ln>
            <a:noFill/>
          </a:ln>
        </p:spPr>
      </p:pic>
      <p:sp>
        <p:nvSpPr>
          <p:cNvPr id="5" name="img-caption"/>
          <p:cNvSpPr txBox="1"/>
          <p:nvPr/>
        </p:nvSpPr>
        <p:spPr>
          <a:xfrm>
            <a:off x="812800" y="4445000"/>
            <a:ext cx="3810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7A7264"/>
                </a:solidFill>
                <a:latin typeface="MiSans"/>
                <a:ea typeface="MiSans"/>
              </a:rPr>
              <a:t>便利店与社区商超是高频即饮的优先点位——门店用「每平方米产出、每分钟人工」审视新设备。</a:t>
            </a:r>
            <a:endParaRPr lang="en-US" sz="1050" noProof="1"/>
          </a:p>
        </p:txBody>
      </p:sp>
      <p:graphicFrame>
        <p:nvGraphicFramePr>
          <p:cNvPr id="6" name="right-table"/>
          <p:cNvGraphicFramePr>
            <a:graphicFrameLocks noGrp="1"/>
          </p:cNvGraphicFramePr>
          <p:nvPr/>
        </p:nvGraphicFramePr>
        <p:xfrm>
          <a:off x="5130800" y="1778000"/>
          <a:ext cx="6248400" cy="3759200"/>
        </p:xfrm>
        <a:graphic>
          <a:graphicData uri="http://schemas.openxmlformats.org/drawingml/2006/table">
            <a:tbl>
              <a:tblPr/>
              <a:tblGrid>
                <a:gridCol w="1749552"/>
                <a:gridCol w="4498848"/>
              </a:tblGrid>
              <a:tr h="451104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300" noProof="1" b="1">
                          <a:solidFill>
                            <a:srgbClr val="1E3B33"/>
                          </a:solidFill>
                          <a:latin typeface="Times New Roman"/>
                          <a:ea typeface="Times New Roman"/>
                        </a:rPr>
                        <a:t>门店顾虑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E3B33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300" noProof="1" b="1">
                          <a:solidFill>
                            <a:srgbClr val="1E3B33"/>
                          </a:solidFill>
                          <a:latin typeface="Times New Roman"/>
                          <a:ea typeface="Times New Roman"/>
                        </a:rPr>
                        <a:t>我们给出的答案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E3B33"/>
                      </a:solidFill>
                    </a:lnB>
                    <a:noFill/>
                  </a:tcPr>
                </a:tc>
              </a:tr>
              <a:tr h="551475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>
                          <a:solidFill>
                            <a:srgbClr val="2B2822"/>
                          </a:solidFill>
                          <a:latin typeface="Times New Roman"/>
                          <a:ea typeface="Times New Roman"/>
                        </a:rPr>
                        <a:t>占地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>
                          <a:solidFill>
                            <a:srgbClr val="2B2822"/>
                          </a:solidFill>
                          <a:latin typeface="Times New Roman"/>
                          <a:ea typeface="Times New Roman"/>
                        </a:rPr>
                        <a:t>约 0.5㎡ 优先，提供点位机会成本比较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</a:tr>
              <a:tr h="551475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>
                          <a:solidFill>
                            <a:srgbClr val="2B2822"/>
                          </a:solidFill>
                          <a:latin typeface="Times New Roman"/>
                          <a:ea typeface="Times New Roman"/>
                        </a:rPr>
                        <a:t>人工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>
                          <a:solidFill>
                            <a:srgbClr val="2B2822"/>
                          </a:solidFill>
                          <a:latin typeface="Times New Roman"/>
                          <a:ea typeface="Times New Roman"/>
                        </a:rPr>
                        <a:t>员工操作不超过三步，日清不超过 10 分钟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</a:tr>
              <a:tr h="551475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>
                          <a:solidFill>
                            <a:srgbClr val="2B2822"/>
                          </a:solidFill>
                          <a:latin typeface="Times New Roman"/>
                          <a:ea typeface="Times New Roman"/>
                        </a:rPr>
                        <a:t>损耗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>
                          <a:solidFill>
                            <a:srgbClr val="2B2822"/>
                          </a:solidFill>
                          <a:latin typeface="Times New Roman"/>
                          <a:ea typeface="Times New Roman"/>
                        </a:rPr>
                        <a:t>效期预警、温控记录、小批补货、报损规则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</a:tr>
              <a:tr h="551475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>
                          <a:solidFill>
                            <a:srgbClr val="2B2822"/>
                          </a:solidFill>
                          <a:latin typeface="Times New Roman"/>
                          <a:ea typeface="Times New Roman"/>
                        </a:rPr>
                        <a:t>收益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>
                          <a:solidFill>
                            <a:srgbClr val="2B2822"/>
                          </a:solidFill>
                          <a:latin typeface="Times New Roman"/>
                          <a:ea typeface="Times New Roman"/>
                        </a:rPr>
                        <a:t>展示门店净贡献，而不只展示毛利率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</a:tr>
              <a:tr h="551475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>
                          <a:solidFill>
                            <a:srgbClr val="2B2822"/>
                          </a:solidFill>
                          <a:latin typeface="Times New Roman"/>
                          <a:ea typeface="Times New Roman"/>
                        </a:rPr>
                        <a:t>食品安全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>
                          <a:solidFill>
                            <a:srgbClr val="2B2822"/>
                          </a:solidFill>
                          <a:latin typeface="Times New Roman"/>
                          <a:ea typeface="Times New Roman"/>
                        </a:rPr>
                        <a:t>许可路径、批次追溯、清洗记录与责任边界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</a:tr>
              <a:tr h="550723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>
                          <a:solidFill>
                            <a:srgbClr val="2B2822"/>
                          </a:solidFill>
                          <a:latin typeface="Times New Roman"/>
                          <a:ea typeface="Times New Roman"/>
                        </a:rPr>
                        <a:t>体验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>
                          <a:solidFill>
                            <a:srgbClr val="2B2822"/>
                          </a:solidFill>
                          <a:latin typeface="Times New Roman"/>
                          <a:ea typeface="Times New Roman"/>
                        </a:rPr>
                        <a:t>出杯时长、成功率、噪音与卫生有验收标准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bottom-rule"/>
          <p:cNvSpPr/>
          <p:nvPr>
            <p:extLst>
              <p:ext uri="{F5677B7D-0D2A-4D9B-9A5C-6D8D7D0E5A5D}">
                <pptd:line encoding="base64url">eyJ2aWV3Qm94IjpbODMyLDJdLCJwb2ludHMiOiIwLDEgODMyLDEifQ</pptd:line>
              </p:ext>
            </p:extLst>
          </p:nvPr>
        </p:nvSpPr>
        <p:spPr>
          <a:xfrm>
            <a:off x="812800" y="5740400"/>
            <a:ext cx="10566400" cy="25400"/>
          </a:xfrm>
          <a:custGeom>
            <a:avLst/>
            <a:gdLst/>
            <a:ahLst/>
            <a:cxnLst/>
            <a:rect l="l" t="t" r="r" b="b"/>
            <a:pathLst>
              <a:path w="832" h="2">
                <a:moveTo>
                  <a:pt x="0" y="1"/>
                </a:moveTo>
                <a:lnTo>
                  <a:pt x="832" y="1"/>
                </a:lnTo>
              </a:path>
            </a:pathLst>
          </a:custGeom>
          <a:noFill/>
          <a:ln w="12700" cap="rnd">
            <a:solidFill>
              <a:srgbClr val="D9CFBB"/>
            </a:solidFill>
            <a:round/>
          </a:ln>
        </p:spPr>
      </p:sp>
      <p:sp>
        <p:nvSpPr>
          <p:cNvPr id="8" name="conclusion"/>
          <p:cNvSpPr txBox="1"/>
          <p:nvPr/>
        </p:nvSpPr>
        <p:spPr>
          <a:xfrm>
            <a:off x="812800" y="5943600"/>
            <a:ext cx="105664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350" noProof="1">
                <a:solidFill>
                  <a:srgbClr val="2B2822"/>
                </a:solidFill>
                <a:latin typeface="MiSans"/>
                <a:ea typeface="MiSans"/>
              </a:rPr>
              <a:t>门店接受新项目的前提只有一条：</a:t>
            </a:r>
            <a:r>
              <a:rPr lang="en-US" sz="1350" noProof="1" b="1">
                <a:solidFill>
                  <a:srgbClr val="C15F3C"/>
                </a:solidFill>
                <a:latin typeface="MiSans"/>
                <a:ea typeface="MiSans"/>
              </a:rPr>
              <a:t>占地小、低人工、可撤机、回本清晰</a:t>
            </a:r>
            <a:r>
              <a:rPr lang="en-US" sz="1350" noProof="1">
                <a:solidFill>
                  <a:srgbClr val="2B2822"/>
                </a:solidFill>
                <a:latin typeface="MiSans"/>
                <a:ea typeface="MiSans"/>
              </a:rPr>
              <a:t>。我们的产品与政策均按此设计，因此代理商拓店时有明确的话术与抓手。</a:t>
            </a:r>
            <a:endParaRPr lang="en-US" sz="1350" noProof="1"/>
          </a:p>
        </p:txBody>
      </p:sp>
      <p:sp>
        <p:nvSpPr>
          <p:cNvPr id="9" name="source"/>
          <p:cNvSpPr txBox="1"/>
          <p:nvPr/>
        </p:nvSpPr>
        <p:spPr>
          <a:xfrm>
            <a:off x="812800" y="6527800"/>
            <a:ext cx="10566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000" noProof="1">
                <a:solidFill>
                  <a:srgbClr val="7A7264"/>
                </a:solidFill>
                <a:latin typeface="MiSans"/>
                <a:ea typeface="MiSans"/>
              </a:rPr>
              <a:t>资料来源：</a:t>
            </a:r>
            <a:r>
              <a:rPr lang="en-US" sz="1000" noProof="1" u="sng">
                <a:solidFill>
                  <a:srgbClr val="0563C1"/>
                </a:solidFill>
                <a:latin typeface="MiSans"/>
                <a:ea typeface="MiSans"/>
                <a:hlinkClick r:id="rId3"/>
              </a:rPr>
              <a:t>CCFA/KPMG《2025年中国便利店发展报告》</a:t>
            </a:r>
            <a:r>
              <a:rPr lang="en-US" sz="1000" noProof="1">
                <a:solidFill>
                  <a:srgbClr val="7A7264"/>
                </a:solidFill>
                <a:latin typeface="MiSans"/>
                <a:ea typeface="MiSans"/>
              </a:rPr>
              <a:t>；渠道调研访谈整理。</a:t>
            </a:r>
            <a:endParaRPr lang="en-US" sz="100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6EF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6096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 noProof="1" b="1" spc="300" kern="0">
                <a:solidFill>
                  <a:srgbClr val="C15F3C"/>
                </a:solidFill>
                <a:latin typeface="MiSans"/>
                <a:ea typeface="MiSans"/>
              </a:rPr>
              <a:t>03 ｜ 产品与模式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914400"/>
            <a:ext cx="105664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5000"/>
              </a:lnSpc>
            </a:pPr>
            <a:r>
              <a:rPr lang="en-US" sz="2800" noProof="1" b="1">
                <a:solidFill>
                  <a:srgbClr val="1E3B33"/>
                </a:solidFill>
                <a:latin typeface="MiSans"/>
                <a:ea typeface="MiSans"/>
              </a:rPr>
              <a:t>定位：门店的「轻量现制饮品柜台」</a:t>
            </a:r>
            <a:endParaRPr lang="en-US" sz="2800" noProof="1"/>
          </a:p>
        </p:txBody>
      </p:sp>
      <p:pic>
        <p:nvPicPr>
          <p:cNvPr id="4" name="prod-img"/>
          <p:cNvPicPr/>
          <p:nvPr/>
        </p:nvPicPr>
        <p:blipFill>
          <a:blip r:embed="rId2"/>
          <a:srcRect t="18000" b="14000"/>
          <a:stretch>
            <a:fillRect/>
          </a:stretch>
        </p:blipFill>
        <p:spPr>
          <a:xfrm>
            <a:off x="7569200" y="762000"/>
            <a:ext cx="3810000" cy="2032000"/>
          </a:xfrm>
          <a:prstGeom prst="rect">
            <a:avLst/>
          </a:prstGeom>
          <a:ln>
            <a:noFill/>
          </a:ln>
        </p:spPr>
      </p:pic>
      <p:sp>
        <p:nvSpPr>
          <p:cNvPr id="5" name="intro"/>
          <p:cNvSpPr txBox="1"/>
          <p:nvPr/>
        </p:nvSpPr>
        <p:spPr>
          <a:xfrm>
            <a:off x="812800" y="1625600"/>
            <a:ext cx="6350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5000"/>
              </a:lnSpc>
            </a:pPr>
            <a:r>
              <a:rPr lang="en-US" sz="1350" noProof="1">
                <a:solidFill>
                  <a:srgbClr val="2B2822"/>
                </a:solidFill>
                <a:latin typeface="MiSans"/>
                <a:ea typeface="MiSans"/>
              </a:rPr>
              <a:t>智能果昔机采用 </a:t>
            </a:r>
            <a:r>
              <a:rPr lang="en-US" sz="1350" noProof="1" b="1">
                <a:solidFill>
                  <a:srgbClr val="2B2822"/>
                </a:solidFill>
                <a:latin typeface="MiSans"/>
                <a:ea typeface="MiSans"/>
              </a:rPr>
              <a:t>NDQF 无损速冻技术</a:t>
            </a:r>
            <a:r>
              <a:rPr lang="en-US" sz="1350" noProof="1">
                <a:solidFill>
                  <a:srgbClr val="2B2822"/>
                </a:solidFill>
                <a:latin typeface="MiSans"/>
                <a:ea typeface="MiSans"/>
              </a:rPr>
              <a:t>，鲜果现打、现制现售。先讲单店收益与运营，再讲智能化——门店买的是一个能赚钱的饮品柜台，不是一台高科技设备。</a:t>
            </a:r>
            <a:endParaRPr lang="en-US" sz="1350" noProof="1"/>
          </a:p>
        </p:txBody>
      </p:sp>
      <p:sp>
        <p:nvSpPr>
          <p:cNvPr id="6" name="cap-rule"/>
          <p:cNvSpPr/>
          <p:nvPr>
            <p:extLst>
              <p:ext uri="{F5677B7D-0D2A-4D9B-9A5C-6D8D7D0E5A5D}">
                <pptd:line encoding="base64url">eyJ2aWV3Qm94IjpbODMyLDJdLCJwb2ludHMiOiIwLDEgODMyLDEifQ</pptd:line>
              </p:ext>
            </p:extLst>
          </p:nvPr>
        </p:nvSpPr>
        <p:spPr>
          <a:xfrm>
            <a:off x="812800" y="2717800"/>
            <a:ext cx="10566400" cy="25400"/>
          </a:xfrm>
          <a:custGeom>
            <a:avLst/>
            <a:gdLst/>
            <a:ahLst/>
            <a:cxnLst/>
            <a:rect l="l" t="t" r="r" b="b"/>
            <a:pathLst>
              <a:path w="832" h="2">
                <a:moveTo>
                  <a:pt x="0" y="1"/>
                </a:moveTo>
                <a:lnTo>
                  <a:pt x="832" y="1"/>
                </a:lnTo>
              </a:path>
            </a:pathLst>
          </a:custGeom>
          <a:noFill/>
          <a:ln w="12700" cap="rnd">
            <a:solidFill>
              <a:srgbClr val="D9CFBB"/>
            </a:solidFill>
            <a:round/>
          </a:ln>
        </p:spPr>
      </p:sp>
      <p:sp>
        <p:nvSpPr>
          <p:cNvPr id="7" name="cap1-icon"/>
          <p:cNvSpPr/>
          <p:nvPr>
            <p:extLst>
              <p:ext uri="{F5677B7D-0D2A-4D9B-9A5C-6D8D7D0E5A5D}">
                <pptd:icon encoding="base64url">eyJpY29uTmFtZSI6ImZhczpibGVuZGVyIn0</pptd:icon>
              </p:ext>
            </p:extLst>
          </p:nvPr>
        </p:nvSpPr>
        <p:spPr>
          <a:xfrm>
            <a:off x="812800" y="30480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0" y="56"/>
                </a:moveTo>
                <a:cubicBezTo>
                  <a:pt x="0" y="25"/>
                  <a:pt x="25" y="0"/>
                  <a:pt x="56" y="0"/>
                </a:cubicBezTo>
                <a:lnTo>
                  <a:pt x="438" y="0"/>
                </a:lnTo>
                <a:cubicBezTo>
                  <a:pt x="459" y="0"/>
                  <a:pt x="474" y="20"/>
                  <a:pt x="468" y="41"/>
                </a:cubicBezTo>
                <a:lnTo>
                  <a:pt x="457" y="80"/>
                </a:lnTo>
                <a:lnTo>
                  <a:pt x="344" y="80"/>
                </a:lnTo>
                <a:cubicBezTo>
                  <a:pt x="331" y="80"/>
                  <a:pt x="320" y="91"/>
                  <a:pt x="320" y="104"/>
                </a:cubicBezTo>
                <a:cubicBezTo>
                  <a:pt x="320" y="117"/>
                  <a:pt x="331" y="128"/>
                  <a:pt x="344" y="128"/>
                </a:cubicBezTo>
                <a:lnTo>
                  <a:pt x="443" y="128"/>
                </a:lnTo>
                <a:lnTo>
                  <a:pt x="425" y="192"/>
                </a:lnTo>
                <a:lnTo>
                  <a:pt x="344" y="192"/>
                </a:lnTo>
                <a:cubicBezTo>
                  <a:pt x="331" y="192"/>
                  <a:pt x="320" y="203"/>
                  <a:pt x="320" y="216"/>
                </a:cubicBezTo>
                <a:cubicBezTo>
                  <a:pt x="320" y="229"/>
                  <a:pt x="331" y="240"/>
                  <a:pt x="344" y="240"/>
                </a:cubicBezTo>
                <a:lnTo>
                  <a:pt x="411" y="240"/>
                </a:lnTo>
                <a:lnTo>
                  <a:pt x="384" y="336"/>
                </a:lnTo>
                <a:lnTo>
                  <a:pt x="128" y="336"/>
                </a:lnTo>
                <a:lnTo>
                  <a:pt x="119" y="240"/>
                </a:lnTo>
                <a:lnTo>
                  <a:pt x="56" y="240"/>
                </a:lnTo>
                <a:cubicBezTo>
                  <a:pt x="25" y="240"/>
                  <a:pt x="0" y="215"/>
                  <a:pt x="0" y="184"/>
                </a:cubicBezTo>
                <a:lnTo>
                  <a:pt x="0" y="56"/>
                </a:lnTo>
                <a:close/>
                <a:moveTo>
                  <a:pt x="114" y="192"/>
                </a:moveTo>
                <a:lnTo>
                  <a:pt x="101" y="48"/>
                </a:lnTo>
                <a:lnTo>
                  <a:pt x="56" y="48"/>
                </a:lnTo>
                <a:cubicBezTo>
                  <a:pt x="52" y="48"/>
                  <a:pt x="48" y="52"/>
                  <a:pt x="48" y="56"/>
                </a:cubicBezTo>
                <a:lnTo>
                  <a:pt x="48" y="184"/>
                </a:lnTo>
                <a:cubicBezTo>
                  <a:pt x="48" y="188"/>
                  <a:pt x="52" y="192"/>
                  <a:pt x="56" y="192"/>
                </a:cubicBezTo>
                <a:lnTo>
                  <a:pt x="114" y="192"/>
                </a:lnTo>
                <a:close/>
              </a:path>
              <a:path w="512" h="512">
                <a:moveTo>
                  <a:pt x="136" y="384"/>
                </a:moveTo>
                <a:lnTo>
                  <a:pt x="376" y="384"/>
                </a:lnTo>
                <a:cubicBezTo>
                  <a:pt x="398" y="384"/>
                  <a:pt x="416" y="402"/>
                  <a:pt x="416" y="424"/>
                </a:cubicBezTo>
                <a:lnTo>
                  <a:pt x="416" y="472"/>
                </a:lnTo>
                <a:cubicBezTo>
                  <a:pt x="416" y="494"/>
                  <a:pt x="398" y="512"/>
                  <a:pt x="376" y="512"/>
                </a:cubicBezTo>
                <a:lnTo>
                  <a:pt x="136" y="512"/>
                </a:lnTo>
                <a:cubicBezTo>
                  <a:pt x="114" y="512"/>
                  <a:pt x="96" y="494"/>
                  <a:pt x="96" y="472"/>
                </a:cubicBezTo>
                <a:lnTo>
                  <a:pt x="96" y="424"/>
                </a:lnTo>
                <a:cubicBezTo>
                  <a:pt x="96" y="402"/>
                  <a:pt x="114" y="384"/>
                  <a:pt x="136" y="384"/>
                </a:cubicBezTo>
                <a:close/>
                <a:moveTo>
                  <a:pt x="256" y="472"/>
                </a:moveTo>
                <a:cubicBezTo>
                  <a:pt x="269" y="472"/>
                  <a:pt x="280" y="461"/>
                  <a:pt x="280" y="448"/>
                </a:cubicBezTo>
                <a:cubicBezTo>
                  <a:pt x="280" y="435"/>
                  <a:pt x="269" y="424"/>
                  <a:pt x="256" y="424"/>
                </a:cubicBezTo>
                <a:cubicBezTo>
                  <a:pt x="243" y="424"/>
                  <a:pt x="232" y="435"/>
                  <a:pt x="232" y="448"/>
                </a:cubicBezTo>
                <a:cubicBezTo>
                  <a:pt x="232" y="461"/>
                  <a:pt x="243" y="472"/>
                  <a:pt x="256" y="472"/>
                </a:cubicBezTo>
                <a:close/>
              </a:path>
            </a:pathLst>
          </a:custGeom>
          <a:solidFill>
            <a:srgbClr val="C15F3C"/>
          </a:solidFill>
          <a:ln>
            <a:noFill/>
          </a:ln>
        </p:spPr>
      </p:sp>
      <p:sp>
        <p:nvSpPr>
          <p:cNvPr id="8" name="cap1-title"/>
          <p:cNvSpPr txBox="1"/>
          <p:nvPr/>
        </p:nvSpPr>
        <p:spPr>
          <a:xfrm>
            <a:off x="1244600" y="3022600"/>
            <a:ext cx="431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1E3B33"/>
                </a:solidFill>
                <a:latin typeface="MiSans"/>
                <a:ea typeface="MiSans"/>
              </a:rPr>
              <a:t>自动现制，三步操作</a:t>
            </a:r>
            <a:endParaRPr lang="en-US" sz="1500" noProof="1"/>
          </a:p>
        </p:txBody>
      </p:sp>
      <p:sp>
        <p:nvSpPr>
          <p:cNvPr id="9" name="cap1-body"/>
          <p:cNvSpPr txBox="1"/>
          <p:nvPr/>
        </p:nvSpPr>
        <p:spPr>
          <a:xfrm>
            <a:off x="1244600" y="3378200"/>
            <a:ext cx="4318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7A7264"/>
                </a:solidFill>
                <a:latin typeface="MiSans"/>
                <a:ea typeface="MiSans"/>
              </a:rPr>
              <a:t>出杯稳定、清洗简单、成功率高；补料、清洗、报修都是标准动作，不新增专职人员。</a:t>
            </a:r>
            <a:endParaRPr lang="en-US" sz="1150" noProof="1"/>
          </a:p>
        </p:txBody>
      </p:sp>
      <p:sp>
        <p:nvSpPr>
          <p:cNvPr id="10" name="cap2-icon"/>
          <p:cNvSpPr/>
          <p:nvPr>
            <p:extLst>
              <p:ext uri="{F5677B7D-0D2A-4D9B-9A5C-6D8D7D0E5A5D}">
                <pptd:icon encoding="base64url">eyJpY29uTmFtZSI6ImZhczpzbm93Zmxha2UifQ</pptd:icon>
              </p:ext>
            </p:extLst>
          </p:nvPr>
        </p:nvSpPr>
        <p:spPr>
          <a:xfrm>
            <a:off x="6096000" y="30480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88" y="0"/>
                </a:moveTo>
                <a:cubicBezTo>
                  <a:pt x="288" y="-18"/>
                  <a:pt x="274" y="-32"/>
                  <a:pt x="256" y="-32"/>
                </a:cubicBezTo>
                <a:cubicBezTo>
                  <a:pt x="239" y="-32"/>
                  <a:pt x="224" y="-18"/>
                  <a:pt x="224" y="0"/>
                </a:cubicBezTo>
                <a:lnTo>
                  <a:pt x="224" y="62"/>
                </a:lnTo>
                <a:lnTo>
                  <a:pt x="209" y="47"/>
                </a:lnTo>
                <a:cubicBezTo>
                  <a:pt x="200" y="38"/>
                  <a:pt x="185" y="38"/>
                  <a:pt x="175" y="47"/>
                </a:cubicBezTo>
                <a:cubicBezTo>
                  <a:pt x="166" y="57"/>
                  <a:pt x="166" y="72"/>
                  <a:pt x="175" y="81"/>
                </a:cubicBezTo>
                <a:lnTo>
                  <a:pt x="224" y="130"/>
                </a:lnTo>
                <a:lnTo>
                  <a:pt x="224" y="201"/>
                </a:lnTo>
                <a:lnTo>
                  <a:pt x="163" y="165"/>
                </a:lnTo>
                <a:lnTo>
                  <a:pt x="145" y="98"/>
                </a:lnTo>
                <a:cubicBezTo>
                  <a:pt x="142" y="86"/>
                  <a:pt x="129" y="78"/>
                  <a:pt x="116" y="81"/>
                </a:cubicBezTo>
                <a:cubicBezTo>
                  <a:pt x="103" y="85"/>
                  <a:pt x="95" y="98"/>
                  <a:pt x="99" y="111"/>
                </a:cubicBezTo>
                <a:lnTo>
                  <a:pt x="104" y="131"/>
                </a:lnTo>
                <a:lnTo>
                  <a:pt x="51" y="100"/>
                </a:lnTo>
                <a:cubicBezTo>
                  <a:pt x="35" y="92"/>
                  <a:pt x="16" y="97"/>
                  <a:pt x="7" y="112"/>
                </a:cubicBezTo>
                <a:cubicBezTo>
                  <a:pt x="-2" y="127"/>
                  <a:pt x="3" y="147"/>
                  <a:pt x="19" y="156"/>
                </a:cubicBezTo>
                <a:lnTo>
                  <a:pt x="72" y="187"/>
                </a:lnTo>
                <a:lnTo>
                  <a:pt x="52" y="192"/>
                </a:lnTo>
                <a:cubicBezTo>
                  <a:pt x="39" y="196"/>
                  <a:pt x="31" y="209"/>
                  <a:pt x="35" y="222"/>
                </a:cubicBezTo>
                <a:cubicBezTo>
                  <a:pt x="38" y="234"/>
                  <a:pt x="51" y="242"/>
                  <a:pt x="64" y="239"/>
                </a:cubicBezTo>
                <a:lnTo>
                  <a:pt x="131" y="221"/>
                </a:lnTo>
                <a:lnTo>
                  <a:pt x="192" y="256"/>
                </a:lnTo>
                <a:lnTo>
                  <a:pt x="131" y="291"/>
                </a:lnTo>
                <a:lnTo>
                  <a:pt x="64" y="273"/>
                </a:lnTo>
                <a:cubicBezTo>
                  <a:pt x="51" y="270"/>
                  <a:pt x="38" y="278"/>
                  <a:pt x="35" y="290"/>
                </a:cubicBezTo>
                <a:cubicBezTo>
                  <a:pt x="31" y="303"/>
                  <a:pt x="39" y="316"/>
                  <a:pt x="52" y="320"/>
                </a:cubicBezTo>
                <a:lnTo>
                  <a:pt x="72" y="325"/>
                </a:lnTo>
                <a:lnTo>
                  <a:pt x="18" y="356"/>
                </a:lnTo>
                <a:cubicBezTo>
                  <a:pt x="3" y="365"/>
                  <a:pt x="-2" y="385"/>
                  <a:pt x="7" y="400"/>
                </a:cubicBezTo>
                <a:cubicBezTo>
                  <a:pt x="16" y="415"/>
                  <a:pt x="35" y="421"/>
                  <a:pt x="51" y="412"/>
                </a:cubicBezTo>
                <a:lnTo>
                  <a:pt x="104" y="381"/>
                </a:lnTo>
                <a:lnTo>
                  <a:pt x="99" y="401"/>
                </a:lnTo>
                <a:cubicBezTo>
                  <a:pt x="95" y="414"/>
                  <a:pt x="103" y="427"/>
                  <a:pt x="116" y="431"/>
                </a:cubicBezTo>
                <a:cubicBezTo>
                  <a:pt x="129" y="434"/>
                  <a:pt x="142" y="426"/>
                  <a:pt x="145" y="414"/>
                </a:cubicBezTo>
                <a:lnTo>
                  <a:pt x="163" y="347"/>
                </a:lnTo>
                <a:lnTo>
                  <a:pt x="224" y="311"/>
                </a:lnTo>
                <a:lnTo>
                  <a:pt x="224" y="382"/>
                </a:lnTo>
                <a:lnTo>
                  <a:pt x="175" y="431"/>
                </a:lnTo>
                <a:cubicBezTo>
                  <a:pt x="166" y="440"/>
                  <a:pt x="166" y="456"/>
                  <a:pt x="175" y="465"/>
                </a:cubicBezTo>
                <a:cubicBezTo>
                  <a:pt x="185" y="474"/>
                  <a:pt x="200" y="474"/>
                  <a:pt x="209" y="465"/>
                </a:cubicBezTo>
                <a:lnTo>
                  <a:pt x="224" y="450"/>
                </a:lnTo>
                <a:lnTo>
                  <a:pt x="224" y="512"/>
                </a:lnTo>
                <a:cubicBezTo>
                  <a:pt x="224" y="530"/>
                  <a:pt x="238" y="544"/>
                  <a:pt x="256" y="544"/>
                </a:cubicBezTo>
                <a:cubicBezTo>
                  <a:pt x="274" y="544"/>
                  <a:pt x="288" y="530"/>
                  <a:pt x="288" y="512"/>
                </a:cubicBezTo>
                <a:lnTo>
                  <a:pt x="288" y="450"/>
                </a:lnTo>
                <a:lnTo>
                  <a:pt x="303" y="465"/>
                </a:lnTo>
                <a:cubicBezTo>
                  <a:pt x="313" y="474"/>
                  <a:pt x="328" y="474"/>
                  <a:pt x="337" y="465"/>
                </a:cubicBezTo>
                <a:cubicBezTo>
                  <a:pt x="346" y="455"/>
                  <a:pt x="346" y="440"/>
                  <a:pt x="337" y="431"/>
                </a:cubicBezTo>
                <a:lnTo>
                  <a:pt x="288" y="382"/>
                </a:lnTo>
                <a:lnTo>
                  <a:pt x="288" y="311"/>
                </a:lnTo>
                <a:lnTo>
                  <a:pt x="349" y="347"/>
                </a:lnTo>
                <a:lnTo>
                  <a:pt x="367" y="414"/>
                </a:lnTo>
                <a:cubicBezTo>
                  <a:pt x="370" y="426"/>
                  <a:pt x="384" y="434"/>
                  <a:pt x="396" y="431"/>
                </a:cubicBezTo>
                <a:cubicBezTo>
                  <a:pt x="409" y="427"/>
                  <a:pt x="417" y="414"/>
                  <a:pt x="413" y="401"/>
                </a:cubicBezTo>
                <a:lnTo>
                  <a:pt x="408" y="381"/>
                </a:lnTo>
                <a:lnTo>
                  <a:pt x="462" y="412"/>
                </a:lnTo>
                <a:cubicBezTo>
                  <a:pt x="477" y="420"/>
                  <a:pt x="497" y="415"/>
                  <a:pt x="505" y="400"/>
                </a:cubicBezTo>
                <a:cubicBezTo>
                  <a:pt x="514" y="385"/>
                  <a:pt x="509" y="365"/>
                  <a:pt x="494" y="356"/>
                </a:cubicBezTo>
                <a:lnTo>
                  <a:pt x="440" y="325"/>
                </a:lnTo>
                <a:lnTo>
                  <a:pt x="460" y="320"/>
                </a:lnTo>
                <a:cubicBezTo>
                  <a:pt x="473" y="316"/>
                  <a:pt x="481" y="303"/>
                  <a:pt x="477" y="290"/>
                </a:cubicBezTo>
                <a:cubicBezTo>
                  <a:pt x="474" y="278"/>
                  <a:pt x="461" y="270"/>
                  <a:pt x="448" y="273"/>
                </a:cubicBezTo>
                <a:lnTo>
                  <a:pt x="381" y="291"/>
                </a:lnTo>
                <a:lnTo>
                  <a:pt x="320" y="256"/>
                </a:lnTo>
                <a:lnTo>
                  <a:pt x="381" y="221"/>
                </a:lnTo>
                <a:lnTo>
                  <a:pt x="448" y="239"/>
                </a:lnTo>
                <a:cubicBezTo>
                  <a:pt x="461" y="242"/>
                  <a:pt x="474" y="234"/>
                  <a:pt x="477" y="222"/>
                </a:cubicBezTo>
                <a:cubicBezTo>
                  <a:pt x="481" y="209"/>
                  <a:pt x="473" y="196"/>
                  <a:pt x="460" y="192"/>
                </a:cubicBezTo>
                <a:lnTo>
                  <a:pt x="440" y="187"/>
                </a:lnTo>
                <a:lnTo>
                  <a:pt x="494" y="156"/>
                </a:lnTo>
                <a:cubicBezTo>
                  <a:pt x="509" y="147"/>
                  <a:pt x="514" y="127"/>
                  <a:pt x="505" y="112"/>
                </a:cubicBezTo>
                <a:cubicBezTo>
                  <a:pt x="496" y="97"/>
                  <a:pt x="477" y="91"/>
                  <a:pt x="462" y="100"/>
                </a:cubicBezTo>
                <a:lnTo>
                  <a:pt x="408" y="131"/>
                </a:lnTo>
                <a:lnTo>
                  <a:pt x="413" y="111"/>
                </a:lnTo>
                <a:cubicBezTo>
                  <a:pt x="417" y="98"/>
                  <a:pt x="409" y="85"/>
                  <a:pt x="396" y="81"/>
                </a:cubicBezTo>
                <a:cubicBezTo>
                  <a:pt x="384" y="78"/>
                  <a:pt x="370" y="86"/>
                  <a:pt x="367" y="98"/>
                </a:cubicBezTo>
                <a:lnTo>
                  <a:pt x="349" y="165"/>
                </a:lnTo>
                <a:lnTo>
                  <a:pt x="288" y="201"/>
                </a:lnTo>
                <a:lnTo>
                  <a:pt x="288" y="130"/>
                </a:lnTo>
                <a:lnTo>
                  <a:pt x="337" y="81"/>
                </a:lnTo>
                <a:cubicBezTo>
                  <a:pt x="346" y="72"/>
                  <a:pt x="346" y="56"/>
                  <a:pt x="337" y="47"/>
                </a:cubicBezTo>
                <a:cubicBezTo>
                  <a:pt x="328" y="38"/>
                  <a:pt x="312" y="38"/>
                  <a:pt x="303" y="47"/>
                </a:cubicBezTo>
                <a:lnTo>
                  <a:pt x="288" y="62"/>
                </a:lnTo>
                <a:lnTo>
                  <a:pt x="288" y="0"/>
                </a:lnTo>
                <a:close/>
              </a:path>
            </a:pathLst>
          </a:custGeom>
          <a:solidFill>
            <a:srgbClr val="C15F3C"/>
          </a:solidFill>
          <a:ln>
            <a:noFill/>
          </a:ln>
        </p:spPr>
      </p:sp>
      <p:sp>
        <p:nvSpPr>
          <p:cNvPr id="11" name="cap2-title"/>
          <p:cNvSpPr txBox="1"/>
          <p:nvPr/>
        </p:nvSpPr>
        <p:spPr>
          <a:xfrm>
            <a:off x="6527800" y="3022600"/>
            <a:ext cx="431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1E3B33"/>
                </a:solidFill>
                <a:latin typeface="MiSans"/>
                <a:ea typeface="MiSans"/>
              </a:rPr>
              <a:t>冷冻杯料，口味一致</a:t>
            </a:r>
            <a:endParaRPr lang="en-US" sz="1500" noProof="1"/>
          </a:p>
        </p:txBody>
      </p:sp>
      <p:sp>
        <p:nvSpPr>
          <p:cNvPr id="12" name="cap2-body"/>
          <p:cNvSpPr txBox="1"/>
          <p:nvPr/>
        </p:nvSpPr>
        <p:spPr>
          <a:xfrm>
            <a:off x="6527800" y="3378200"/>
            <a:ext cx="4318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7A7264"/>
                </a:solidFill>
                <a:latin typeface="MiSans"/>
                <a:ea typeface="MiSans"/>
              </a:rPr>
              <a:t>果杯 / 奶浆耗材统一供应，口味一致、批次可溯、供应稳定，出品质量不依赖店员手艺。</a:t>
            </a:r>
            <a:endParaRPr lang="en-US" sz="1150" noProof="1"/>
          </a:p>
        </p:txBody>
      </p:sp>
      <p:sp>
        <p:nvSpPr>
          <p:cNvPr id="13" name="cap3-icon"/>
          <p:cNvSpPr/>
          <p:nvPr>
            <p:extLst>
              <p:ext uri="{F5677B7D-0D2A-4D9B-9A5C-6D8D7D0E5A5D}">
                <pptd:icon encoding="base64url">eyJpY29uTmFtZSI6ImZhczpzaWduYWwifQ</pptd:icon>
              </p:ext>
            </p:extLst>
          </p:nvPr>
        </p:nvSpPr>
        <p:spPr>
          <a:xfrm>
            <a:off x="812800" y="43180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488" y="56"/>
                </a:moveTo>
                <a:cubicBezTo>
                  <a:pt x="488" y="43"/>
                  <a:pt x="477" y="32"/>
                  <a:pt x="464" y="32"/>
                </a:cubicBezTo>
                <a:cubicBezTo>
                  <a:pt x="451" y="32"/>
                  <a:pt x="440" y="43"/>
                  <a:pt x="440" y="56"/>
                </a:cubicBezTo>
                <a:lnTo>
                  <a:pt x="440" y="456"/>
                </a:lnTo>
                <a:cubicBezTo>
                  <a:pt x="440" y="469"/>
                  <a:pt x="451" y="480"/>
                  <a:pt x="464" y="480"/>
                </a:cubicBezTo>
                <a:cubicBezTo>
                  <a:pt x="477" y="480"/>
                  <a:pt x="488" y="469"/>
                  <a:pt x="488" y="456"/>
                </a:cubicBezTo>
                <a:lnTo>
                  <a:pt x="488" y="56"/>
                </a:lnTo>
                <a:close/>
              </a:path>
              <a:path w="512" h="512">
                <a:moveTo>
                  <a:pt x="360" y="128"/>
                </a:moveTo>
                <a:cubicBezTo>
                  <a:pt x="347" y="128"/>
                  <a:pt x="336" y="139"/>
                  <a:pt x="336" y="152"/>
                </a:cubicBezTo>
                <a:lnTo>
                  <a:pt x="336" y="456"/>
                </a:lnTo>
                <a:cubicBezTo>
                  <a:pt x="336" y="469"/>
                  <a:pt x="347" y="480"/>
                  <a:pt x="360" y="480"/>
                </a:cubicBezTo>
                <a:cubicBezTo>
                  <a:pt x="373" y="480"/>
                  <a:pt x="384" y="469"/>
                  <a:pt x="384" y="456"/>
                </a:cubicBezTo>
                <a:lnTo>
                  <a:pt x="384" y="152"/>
                </a:lnTo>
                <a:cubicBezTo>
                  <a:pt x="384" y="139"/>
                  <a:pt x="373" y="128"/>
                  <a:pt x="360" y="128"/>
                </a:cubicBezTo>
                <a:close/>
              </a:path>
              <a:path w="512" h="512">
                <a:moveTo>
                  <a:pt x="280" y="248"/>
                </a:moveTo>
                <a:cubicBezTo>
                  <a:pt x="280" y="235"/>
                  <a:pt x="269" y="224"/>
                  <a:pt x="256" y="224"/>
                </a:cubicBezTo>
                <a:cubicBezTo>
                  <a:pt x="243" y="224"/>
                  <a:pt x="232" y="235"/>
                  <a:pt x="232" y="248"/>
                </a:cubicBezTo>
                <a:lnTo>
                  <a:pt x="232" y="456"/>
                </a:lnTo>
                <a:cubicBezTo>
                  <a:pt x="232" y="469"/>
                  <a:pt x="243" y="480"/>
                  <a:pt x="256" y="480"/>
                </a:cubicBezTo>
                <a:cubicBezTo>
                  <a:pt x="269" y="480"/>
                  <a:pt x="280" y="469"/>
                  <a:pt x="280" y="456"/>
                </a:cubicBezTo>
                <a:lnTo>
                  <a:pt x="280" y="248"/>
                </a:lnTo>
                <a:close/>
              </a:path>
              <a:path w="512" h="512">
                <a:moveTo>
                  <a:pt x="152" y="320"/>
                </a:moveTo>
                <a:cubicBezTo>
                  <a:pt x="139" y="320"/>
                  <a:pt x="128" y="331"/>
                  <a:pt x="128" y="344"/>
                </a:cubicBezTo>
                <a:lnTo>
                  <a:pt x="128" y="456"/>
                </a:lnTo>
                <a:cubicBezTo>
                  <a:pt x="128" y="469"/>
                  <a:pt x="139" y="480"/>
                  <a:pt x="152" y="480"/>
                </a:cubicBezTo>
                <a:cubicBezTo>
                  <a:pt x="165" y="480"/>
                  <a:pt x="176" y="469"/>
                  <a:pt x="176" y="456"/>
                </a:cubicBezTo>
                <a:lnTo>
                  <a:pt x="176" y="344"/>
                </a:lnTo>
                <a:cubicBezTo>
                  <a:pt x="176" y="331"/>
                  <a:pt x="165" y="320"/>
                  <a:pt x="152" y="320"/>
                </a:cubicBezTo>
                <a:close/>
              </a:path>
              <a:path w="512" h="512">
                <a:moveTo>
                  <a:pt x="48" y="384"/>
                </a:moveTo>
                <a:cubicBezTo>
                  <a:pt x="35" y="384"/>
                  <a:pt x="24" y="395"/>
                  <a:pt x="24" y="408"/>
                </a:cubicBezTo>
                <a:lnTo>
                  <a:pt x="24" y="456"/>
                </a:lnTo>
                <a:cubicBezTo>
                  <a:pt x="24" y="469"/>
                  <a:pt x="35" y="480"/>
                  <a:pt x="48" y="480"/>
                </a:cubicBezTo>
                <a:cubicBezTo>
                  <a:pt x="61" y="480"/>
                  <a:pt x="72" y="469"/>
                  <a:pt x="72" y="456"/>
                </a:cubicBezTo>
                <a:lnTo>
                  <a:pt x="72" y="408"/>
                </a:lnTo>
                <a:cubicBezTo>
                  <a:pt x="72" y="395"/>
                  <a:pt x="61" y="384"/>
                  <a:pt x="48" y="384"/>
                </a:cubicBezTo>
                <a:close/>
              </a:path>
            </a:pathLst>
          </a:custGeom>
          <a:solidFill>
            <a:srgbClr val="C15F3C"/>
          </a:solidFill>
          <a:ln>
            <a:noFill/>
          </a:ln>
        </p:spPr>
      </p:sp>
      <p:sp>
        <p:nvSpPr>
          <p:cNvPr id="14" name="cap3-title"/>
          <p:cNvSpPr txBox="1"/>
          <p:nvPr/>
        </p:nvSpPr>
        <p:spPr>
          <a:xfrm>
            <a:off x="1244600" y="4292600"/>
            <a:ext cx="431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1E3B33"/>
                </a:solidFill>
                <a:latin typeface="MiSans"/>
                <a:ea typeface="MiSans"/>
              </a:rPr>
              <a:t>远程联网，数据运营</a:t>
            </a:r>
            <a:endParaRPr lang="en-US" sz="1500" noProof="1"/>
          </a:p>
        </p:txBody>
      </p:sp>
      <p:sp>
        <p:nvSpPr>
          <p:cNvPr id="15" name="cap3-body"/>
          <p:cNvSpPr txBox="1"/>
          <p:nvPr/>
        </p:nvSpPr>
        <p:spPr>
          <a:xfrm>
            <a:off x="1244600" y="4648200"/>
            <a:ext cx="4318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7A7264"/>
                </a:solidFill>
                <a:latin typeface="MiSans"/>
                <a:ea typeface="MiSans"/>
              </a:rPr>
              <a:t>销量、温度、故障、效期实时监控，远程诊断与自动补货提醒，真正降低运营成本。</a:t>
            </a:r>
            <a:endParaRPr lang="en-US" sz="1150" noProof="1"/>
          </a:p>
        </p:txBody>
      </p:sp>
      <p:sp>
        <p:nvSpPr>
          <p:cNvPr id="16" name="cap4-icon"/>
          <p:cNvSpPr/>
          <p:nvPr>
            <p:extLst>
              <p:ext uri="{F5677B7D-0D2A-4D9B-9A5C-6D8D7D0E5A5D}">
                <pptd:icon encoding="base64url">eyJpY29uTmFtZSI6ImZhczpzdG9yZSJ9</pptd:icon>
              </p:ext>
            </p:extLst>
          </p:nvPr>
        </p:nvSpPr>
        <p:spPr>
          <a:xfrm>
            <a:off x="6096000" y="43180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31" y="72"/>
                </a:moveTo>
                <a:cubicBezTo>
                  <a:pt x="38" y="48"/>
                  <a:pt x="60" y="32"/>
                  <a:pt x="84" y="32"/>
                </a:cubicBezTo>
                <a:lnTo>
                  <a:pt x="428" y="32"/>
                </a:lnTo>
                <a:cubicBezTo>
                  <a:pt x="453" y="32"/>
                  <a:pt x="475" y="48"/>
                  <a:pt x="482" y="72"/>
                </a:cubicBezTo>
                <a:lnTo>
                  <a:pt x="506" y="153"/>
                </a:lnTo>
                <a:cubicBezTo>
                  <a:pt x="518" y="196"/>
                  <a:pt x="485" y="240"/>
                  <a:pt x="440" y="240"/>
                </a:cubicBezTo>
                <a:cubicBezTo>
                  <a:pt x="414" y="240"/>
                  <a:pt x="391" y="225"/>
                  <a:pt x="379" y="203"/>
                </a:cubicBezTo>
                <a:cubicBezTo>
                  <a:pt x="368" y="225"/>
                  <a:pt x="345" y="240"/>
                  <a:pt x="318" y="240"/>
                </a:cubicBezTo>
                <a:cubicBezTo>
                  <a:pt x="291" y="240"/>
                  <a:pt x="268" y="225"/>
                  <a:pt x="257" y="203"/>
                </a:cubicBezTo>
                <a:cubicBezTo>
                  <a:pt x="245" y="225"/>
                  <a:pt x="222" y="240"/>
                  <a:pt x="195" y="240"/>
                </a:cubicBezTo>
                <a:cubicBezTo>
                  <a:pt x="168" y="240"/>
                  <a:pt x="145" y="225"/>
                  <a:pt x="134" y="203"/>
                </a:cubicBezTo>
                <a:cubicBezTo>
                  <a:pt x="122" y="225"/>
                  <a:pt x="99" y="240"/>
                  <a:pt x="73" y="240"/>
                </a:cubicBezTo>
                <a:cubicBezTo>
                  <a:pt x="27" y="240"/>
                  <a:pt x="-5" y="196"/>
                  <a:pt x="7" y="153"/>
                </a:cubicBezTo>
                <a:lnTo>
                  <a:pt x="31" y="72"/>
                </a:lnTo>
                <a:close/>
                <a:moveTo>
                  <a:pt x="96" y="352"/>
                </a:moveTo>
                <a:lnTo>
                  <a:pt x="416" y="352"/>
                </a:lnTo>
                <a:lnTo>
                  <a:pt x="416" y="286"/>
                </a:lnTo>
                <a:cubicBezTo>
                  <a:pt x="424" y="287"/>
                  <a:pt x="432" y="288"/>
                  <a:pt x="440" y="288"/>
                </a:cubicBezTo>
                <a:cubicBezTo>
                  <a:pt x="454" y="288"/>
                  <a:pt x="468" y="285"/>
                  <a:pt x="480" y="281"/>
                </a:cubicBezTo>
                <a:lnTo>
                  <a:pt x="480" y="432"/>
                </a:lnTo>
                <a:cubicBezTo>
                  <a:pt x="480" y="459"/>
                  <a:pt x="459" y="480"/>
                  <a:pt x="432" y="480"/>
                </a:cubicBezTo>
                <a:lnTo>
                  <a:pt x="80" y="480"/>
                </a:lnTo>
                <a:cubicBezTo>
                  <a:pt x="54" y="480"/>
                  <a:pt x="32" y="459"/>
                  <a:pt x="32" y="432"/>
                </a:cubicBezTo>
                <a:lnTo>
                  <a:pt x="32" y="281"/>
                </a:lnTo>
                <a:cubicBezTo>
                  <a:pt x="45" y="285"/>
                  <a:pt x="58" y="288"/>
                  <a:pt x="73" y="288"/>
                </a:cubicBezTo>
                <a:cubicBezTo>
                  <a:pt x="81" y="288"/>
                  <a:pt x="89" y="287"/>
                  <a:pt x="96" y="286"/>
                </a:cubicBezTo>
                <a:lnTo>
                  <a:pt x="96" y="352"/>
                </a:lnTo>
                <a:close/>
              </a:path>
            </a:pathLst>
          </a:custGeom>
          <a:solidFill>
            <a:srgbClr val="C15F3C"/>
          </a:solidFill>
          <a:ln>
            <a:noFill/>
          </a:ln>
        </p:spPr>
      </p:sp>
      <p:sp>
        <p:nvSpPr>
          <p:cNvPr id="17" name="cap4-title"/>
          <p:cNvSpPr txBox="1"/>
          <p:nvPr/>
        </p:nvSpPr>
        <p:spPr>
          <a:xfrm>
            <a:off x="6527800" y="4292600"/>
            <a:ext cx="431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1E3B33"/>
                </a:solidFill>
                <a:latin typeface="MiSans"/>
                <a:ea typeface="MiSans"/>
              </a:rPr>
              <a:t>零售与运营双重属性</a:t>
            </a:r>
            <a:endParaRPr lang="en-US" sz="1500" noProof="1"/>
          </a:p>
        </p:txBody>
      </p:sp>
      <p:sp>
        <p:nvSpPr>
          <p:cNvPr id="18" name="cap4-body"/>
          <p:cNvSpPr txBox="1"/>
          <p:nvPr/>
        </p:nvSpPr>
        <p:spPr>
          <a:xfrm>
            <a:off x="6527800" y="4648200"/>
            <a:ext cx="4318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7A7264"/>
                </a:solidFill>
                <a:latin typeface="MiSans"/>
                <a:ea typeface="MiSans"/>
              </a:rPr>
              <a:t>租金收取、两级分账、设备监控由 SaaS 自动完成，代理商无需自建 IT 即可运营整县网络。</a:t>
            </a:r>
            <a:endParaRPr lang="en-US" sz="1150" noProof="1"/>
          </a:p>
        </p:txBody>
      </p:sp>
      <p:sp>
        <p:nvSpPr>
          <p:cNvPr id="19" name="note-rule"/>
          <p:cNvSpPr/>
          <p:nvPr>
            <p:extLst>
              <p:ext uri="{F5677B7D-0D2A-4D9B-9A5C-6D8D7D0E5A5D}">
                <pptd:line encoding="base64url">eyJ2aWV3Qm94IjpbODMyLDJdLCJwb2ludHMiOiIwLDEgODMyLDEifQ</pptd:line>
              </p:ext>
            </p:extLst>
          </p:nvPr>
        </p:nvSpPr>
        <p:spPr>
          <a:xfrm>
            <a:off x="812800" y="5689600"/>
            <a:ext cx="10566400" cy="25400"/>
          </a:xfrm>
          <a:custGeom>
            <a:avLst/>
            <a:gdLst/>
            <a:ahLst/>
            <a:cxnLst/>
            <a:rect l="l" t="t" r="r" b="b"/>
            <a:pathLst>
              <a:path w="832" h="2">
                <a:moveTo>
                  <a:pt x="0" y="1"/>
                </a:moveTo>
                <a:lnTo>
                  <a:pt x="832" y="1"/>
                </a:lnTo>
              </a:path>
            </a:pathLst>
          </a:custGeom>
          <a:noFill/>
          <a:ln w="19050" cap="rnd">
            <a:solidFill>
              <a:srgbClr val="1E3B33"/>
            </a:solidFill>
            <a:round/>
          </a:ln>
        </p:spPr>
      </p:sp>
      <p:sp>
        <p:nvSpPr>
          <p:cNvPr id="20" name="note"/>
          <p:cNvSpPr txBox="1"/>
          <p:nvPr/>
        </p:nvSpPr>
        <p:spPr>
          <a:xfrm>
            <a:off x="812800" y="5892800"/>
            <a:ext cx="105664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350" noProof="1">
                <a:solidFill>
                  <a:srgbClr val="2B2822"/>
                </a:solidFill>
                <a:latin typeface="MiSans"/>
                <a:ea typeface="MiSans"/>
              </a:rPr>
              <a:t>产品成立的前提：</a:t>
            </a:r>
            <a:r>
              <a:rPr lang="en-US" sz="1350" noProof="1" b="1">
                <a:solidFill>
                  <a:srgbClr val="2B2822"/>
                </a:solidFill>
                <a:latin typeface="MiSans"/>
                <a:ea typeface="MiSans"/>
              </a:rPr>
              <a:t>出杯稳定、耗材可溯、数据可用</a:t>
            </a:r>
            <a:r>
              <a:rPr lang="en-US" sz="1350" noProof="1">
                <a:solidFill>
                  <a:srgbClr val="2B2822"/>
                </a:solidFill>
                <a:latin typeface="MiSans"/>
                <a:ea typeface="MiSans"/>
              </a:rPr>
              <a:t>。三项做不到，设备就会从「省人」变成「添乱」——这也是我们用 90 天样板池先验证、再规模招商的原因。</a:t>
            </a:r>
            <a:endParaRPr lang="en-US" sz="135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6EF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6096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 noProof="1" b="1" spc="300" kern="0">
                <a:solidFill>
                  <a:srgbClr val="C15F3C"/>
                </a:solidFill>
                <a:latin typeface="MiSans"/>
                <a:ea typeface="MiSans"/>
              </a:rPr>
              <a:t>03 ｜ 产品与模式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914400"/>
            <a:ext cx="105664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5000"/>
              </a:lnSpc>
            </a:pPr>
            <a:r>
              <a:rPr lang="en-US" sz="2800" noProof="1" b="1">
                <a:solidFill>
                  <a:srgbClr val="1E3B33"/>
                </a:solidFill>
                <a:latin typeface="MiSans"/>
                <a:ea typeface="MiSans"/>
              </a:rPr>
              <a:t>优先投放场景：先打高频刚需点位</a:t>
            </a:r>
            <a:endParaRPr lang="en-US" sz="2800" noProof="1"/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812800" y="1752600"/>
          <a:ext cx="10566400" cy="4064000"/>
        </p:xfrm>
        <a:graphic>
          <a:graphicData uri="http://schemas.openxmlformats.org/drawingml/2006/table">
            <a:tbl>
              <a:tblPr/>
              <a:tblGrid>
                <a:gridCol w="845312"/>
                <a:gridCol w="3592576"/>
                <a:gridCol w="3803904"/>
                <a:gridCol w="2324608"/>
              </a:tblGrid>
              <a:tr h="40640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300" noProof="1" b="1">
                          <a:solidFill>
                            <a:srgbClr val="1E3B33"/>
                          </a:solidFill>
                          <a:latin typeface="Times New Roman"/>
                          <a:ea typeface="Times New Roman"/>
                        </a:rPr>
                        <a:t>优先级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E3B33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300" noProof="1" b="1">
                          <a:solidFill>
                            <a:srgbClr val="1E3B33"/>
                          </a:solidFill>
                          <a:latin typeface="Times New Roman"/>
                          <a:ea typeface="Times New Roman"/>
                        </a:rPr>
                        <a:t>点位类型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E3B33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300" noProof="1" b="1">
                          <a:solidFill>
                            <a:srgbClr val="1E3B33"/>
                          </a:solidFill>
                          <a:latin typeface="Times New Roman"/>
                          <a:ea typeface="Times New Roman"/>
                        </a:rPr>
                        <a:t>为什么适合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E3B33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300" noProof="1" b="1">
                          <a:solidFill>
                            <a:srgbClr val="1E3B33"/>
                          </a:solidFill>
                          <a:latin typeface="Times New Roman"/>
                          <a:ea typeface="Times New Roman"/>
                        </a:rPr>
                        <a:t>主要门槛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E3B33"/>
                      </a:solidFill>
                    </a:lnB>
                    <a:noFill/>
                  </a:tcPr>
                </a:tc>
              </a:tr>
              <a:tr h="60960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 b="1">
                          <a:solidFill>
                            <a:srgbClr val="C15F3C"/>
                          </a:solidFill>
                          <a:latin typeface="Times New Roman"/>
                          <a:ea typeface="Times New Roman"/>
                        </a:rPr>
                        <a:t>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>
                          <a:solidFill>
                            <a:srgbClr val="2B2822"/>
                          </a:solidFill>
                          <a:latin typeface="Times New Roman"/>
                          <a:ea typeface="Times New Roman"/>
                        </a:rPr>
                        <a:t>校园外 / 写字楼 / 医院周边便利店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>
                          <a:solidFill>
                            <a:srgbClr val="2B2822"/>
                          </a:solidFill>
                          <a:latin typeface="Times New Roman"/>
                          <a:ea typeface="Times New Roman"/>
                        </a:rPr>
                        <a:t>早餐、下午与陪护高频，即取即走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>
                          <a:solidFill>
                            <a:srgbClr val="2B2822"/>
                          </a:solidFill>
                          <a:latin typeface="Times New Roman"/>
                          <a:ea typeface="Times New Roman"/>
                        </a:rPr>
                        <a:t>合规、峰值排队、寒暑假波动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</a:tr>
              <a:tr h="60960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 b="1">
                          <a:solidFill>
                            <a:srgbClr val="C15F3C"/>
                          </a:solidFill>
                          <a:latin typeface="Times New Roman"/>
                          <a:ea typeface="Times New Roman"/>
                        </a:rPr>
                        <a:t>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>
                          <a:solidFill>
                            <a:srgbClr val="2B2822"/>
                          </a:solidFill>
                          <a:latin typeface="Times New Roman"/>
                          <a:ea typeface="Times New Roman"/>
                        </a:rPr>
                        <a:t>健身房 / 运动中心配套店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>
                          <a:solidFill>
                            <a:srgbClr val="2B2822"/>
                          </a:solidFill>
                          <a:latin typeface="Times New Roman"/>
                          <a:ea typeface="Times New Roman"/>
                        </a:rPr>
                        <a:t>需求明确、内容传播强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>
                          <a:solidFill>
                            <a:srgbClr val="2B2822"/>
                          </a:solidFill>
                          <a:latin typeface="Times New Roman"/>
                          <a:ea typeface="Times New Roman"/>
                        </a:rPr>
                        <a:t>客流时段集中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</a:tr>
              <a:tr h="60960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 b="1">
                          <a:solidFill>
                            <a:srgbClr val="1E3B33"/>
                          </a:solidFill>
                          <a:latin typeface="Times New Roman"/>
                          <a:ea typeface="Times New Roman"/>
                        </a:rPr>
                        <a:t>A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>
                          <a:solidFill>
                            <a:srgbClr val="2B2822"/>
                          </a:solidFill>
                          <a:latin typeface="Times New Roman"/>
                          <a:ea typeface="Times New Roman"/>
                        </a:rPr>
                        <a:t>社区精品便利店 / 区域连锁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>
                          <a:solidFill>
                            <a:srgbClr val="2B2822"/>
                          </a:solidFill>
                          <a:latin typeface="Times New Roman"/>
                          <a:ea typeface="Times New Roman"/>
                        </a:rPr>
                        <a:t>店主决策快、模式可复制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>
                          <a:solidFill>
                            <a:srgbClr val="2B2822"/>
                          </a:solidFill>
                          <a:latin typeface="Times New Roman"/>
                          <a:ea typeface="Times New Roman"/>
                        </a:rPr>
                        <a:t>价格敏感、执行差异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</a:tr>
              <a:tr h="60960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 b="1">
                          <a:solidFill>
                            <a:srgbClr val="1E3B33"/>
                          </a:solidFill>
                          <a:latin typeface="Times New Roman"/>
                          <a:ea typeface="Times New Roman"/>
                        </a:rPr>
                        <a:t>A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>
                          <a:solidFill>
                            <a:srgbClr val="2B2822"/>
                          </a:solidFill>
                          <a:latin typeface="Times New Roman"/>
                          <a:ea typeface="Times New Roman"/>
                        </a:rPr>
                        <a:t>轻食 / 西式快餐 / 烘焙店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>
                          <a:solidFill>
                            <a:srgbClr val="2B2822"/>
                          </a:solidFill>
                          <a:latin typeface="Times New Roman"/>
                          <a:ea typeface="Times New Roman"/>
                        </a:rPr>
                        <a:t>套餐加购自然、已有操作台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>
                          <a:solidFill>
                            <a:srgbClr val="2B2822"/>
                          </a:solidFill>
                          <a:latin typeface="Times New Roman"/>
                          <a:ea typeface="Times New Roman"/>
                        </a:rPr>
                        <a:t>分账与菜单位置竞争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</a:tr>
              <a:tr h="60960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 b="1">
                          <a:solidFill>
                            <a:srgbClr val="7A7264"/>
                          </a:solidFill>
                          <a:latin typeface="Times New Roman"/>
                          <a:ea typeface="Times New Roman"/>
                        </a:rPr>
                        <a:t>B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>
                          <a:solidFill>
                            <a:srgbClr val="2B2822"/>
                          </a:solidFill>
                          <a:latin typeface="Times New Roman"/>
                          <a:ea typeface="Times New Roman"/>
                        </a:rPr>
                        <a:t>大型商超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>
                          <a:solidFill>
                            <a:srgbClr val="2B2822"/>
                          </a:solidFill>
                          <a:latin typeface="Times New Roman"/>
                          <a:ea typeface="Times New Roman"/>
                        </a:rPr>
                        <a:t>客流大、信任背书强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>
                          <a:solidFill>
                            <a:srgbClr val="2B2822"/>
                          </a:solidFill>
                          <a:latin typeface="Times New Roman"/>
                          <a:ea typeface="Times New Roman"/>
                        </a:rPr>
                        <a:t>进场费、账期、审批复杂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</a:tr>
              <a:tr h="60960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 b="1">
                          <a:solidFill>
                            <a:srgbClr val="7A7264"/>
                          </a:solidFill>
                          <a:latin typeface="Times New Roman"/>
                          <a:ea typeface="Times New Roman"/>
                        </a:rPr>
                        <a:t>C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>
                          <a:solidFill>
                            <a:srgbClr val="2B2822"/>
                          </a:solidFill>
                          <a:latin typeface="Times New Roman"/>
                          <a:ea typeface="Times New Roman"/>
                        </a:rPr>
                        <a:t>普通中餐正餐店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>
                          <a:solidFill>
                            <a:srgbClr val="2B2822"/>
                          </a:solidFill>
                          <a:latin typeface="Times New Roman"/>
                          <a:ea typeface="Times New Roman"/>
                        </a:rPr>
                        <a:t>可做儿童 / 餐后场景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>
                          <a:solidFill>
                            <a:srgbClr val="2B2822"/>
                          </a:solidFill>
                          <a:latin typeface="Times New Roman"/>
                          <a:ea typeface="Times New Roman"/>
                        </a:rPr>
                        <a:t>需求弱、员工不愿额外操作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note"/>
          <p:cNvSpPr txBox="1"/>
          <p:nvPr/>
        </p:nvSpPr>
        <p:spPr>
          <a:xfrm>
            <a:off x="812800" y="6045200"/>
            <a:ext cx="105664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7A7264"/>
                </a:solidFill>
                <a:latin typeface="MiSans"/>
                <a:ea typeface="MiSans"/>
              </a:rPr>
              <a:t>拓点顺序建议：先把 </a:t>
            </a:r>
            <a:r>
              <a:rPr lang="en-US" sz="1150" noProof="1" b="1">
                <a:solidFill>
                  <a:srgbClr val="C15F3C"/>
                </a:solidFill>
                <a:latin typeface="MiSans"/>
                <a:ea typeface="MiSans"/>
              </a:rPr>
              <a:t>S 级点位</a:t>
            </a:r>
            <a:r>
              <a:rPr lang="en-US" sz="1150" noProof="1">
                <a:solidFill>
                  <a:srgbClr val="7A7264"/>
                </a:solidFill>
                <a:latin typeface="MiSans"/>
                <a:ea typeface="MiSans"/>
              </a:rPr>
              <a:t>打出样板杯量，再复制到 A 级；B / C 级不作为起盘重点。点位准入使用 100 分评分卡，≥75 分进入试点，任何「经营者不配合清洗 / 温控」的点位一票否决。</a:t>
            </a:r>
            <a:endParaRPr lang="en-US" sz="115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6EF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6096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 noProof="1" b="1" spc="300" kern="0">
                <a:solidFill>
                  <a:srgbClr val="C15F3C"/>
                </a:solidFill>
                <a:latin typeface="MiSans"/>
                <a:ea typeface="MiSans"/>
              </a:rPr>
              <a:t>04 ｜ 收益测算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914400"/>
            <a:ext cx="105664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5000"/>
              </a:lnSpc>
            </a:pPr>
            <a:r>
              <a:rPr lang="en-US" sz="2800" noProof="1" b="1">
                <a:solidFill>
                  <a:srgbClr val="1E3B33"/>
                </a:solidFill>
                <a:latin typeface="MiSans"/>
                <a:ea typeface="MiSans"/>
              </a:rPr>
              <a:t>单机经济模型：先算「杯」，再谈「县域独家」</a:t>
            </a:r>
            <a:endParaRPr lang="en-US" sz="2800" noProof="1"/>
          </a:p>
        </p:txBody>
      </p:sp>
      <p:sp>
        <p:nvSpPr>
          <p:cNvPr id="4" name="assumption"/>
          <p:cNvSpPr txBox="1"/>
          <p:nvPr/>
        </p:nvSpPr>
        <p:spPr>
          <a:xfrm>
            <a:off x="812800" y="1498600"/>
            <a:ext cx="105664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00" noProof="1" b="1">
                <a:solidFill>
                  <a:srgbClr val="7A7264"/>
                </a:solidFill>
                <a:latin typeface="MiSans"/>
                <a:ea typeface="MiSans"/>
              </a:rPr>
              <a:t>示范模型（非收益承诺）</a:t>
            </a:r>
            <a:r>
              <a:rPr lang="en-US" sz="1100" noProof="1">
                <a:solidFill>
                  <a:srgbClr val="7A7264"/>
                </a:solidFill>
                <a:latin typeface="MiSans"/>
                <a:ea typeface="MiSans"/>
              </a:rPr>
              <a:t>：零售价 18 元/杯；杯料及包装 6.0 元；支付/促销 0.8 元；损耗 0.5 元；终端分成 4.5 元；代理履约 1.0 元 → 体系可分配贡献 </a:t>
            </a:r>
            <a:r>
              <a:rPr lang="en-US" sz="1100" noProof="1" b="1">
                <a:solidFill>
                  <a:srgbClr val="C15F3C"/>
                </a:solidFill>
                <a:latin typeface="MiSans"/>
                <a:ea typeface="MiSans"/>
              </a:rPr>
              <a:t>5.2 元/杯</a:t>
            </a:r>
            <a:r>
              <a:rPr lang="en-US" sz="1100" noProof="1">
                <a:solidFill>
                  <a:srgbClr val="7A7264"/>
                </a:solidFill>
                <a:latin typeface="MiSans"/>
                <a:ea typeface="MiSans"/>
              </a:rPr>
              <a:t>；固定成本按 900 元/月示意。</a:t>
            </a:r>
            <a:endParaRPr lang="en-US" sz="1100" noProof="1"/>
          </a:p>
        </p:txBody>
      </p:sp>
      <p:graphicFrame>
        <p:nvGraphicFramePr>
          <p:cNvPr id="5" name="table"/>
          <p:cNvGraphicFramePr>
            <a:graphicFrameLocks noGrp="1"/>
          </p:cNvGraphicFramePr>
          <p:nvPr/>
        </p:nvGraphicFramePr>
        <p:xfrm>
          <a:off x="812800" y="2133600"/>
          <a:ext cx="7112000" cy="3556000"/>
        </p:xfrm>
        <a:graphic>
          <a:graphicData uri="http://schemas.openxmlformats.org/drawingml/2006/table">
            <a:tbl>
              <a:tblPr/>
              <a:tblGrid>
                <a:gridCol w="1137920"/>
                <a:gridCol w="1422400"/>
                <a:gridCol w="1706880"/>
                <a:gridCol w="1422400"/>
                <a:gridCol w="1422400"/>
              </a:tblGrid>
              <a:tr h="592667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300" noProof="1" b="1">
                          <a:solidFill>
                            <a:srgbClr val="1E3B33"/>
                          </a:solidFill>
                          <a:latin typeface="Times New Roman"/>
                          <a:ea typeface="Times New Roman"/>
                        </a:rPr>
                        <a:t>日均杯量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E3B33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300" noProof="1" b="1">
                          <a:solidFill>
                            <a:srgbClr val="1E3B33"/>
                          </a:solidFill>
                          <a:latin typeface="Times New Roman"/>
                          <a:ea typeface="Times New Roman"/>
                        </a:rPr>
                        <a:t>月销售额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E3B33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300" noProof="1" b="1">
                          <a:solidFill>
                            <a:srgbClr val="1E3B33"/>
                          </a:solidFill>
                          <a:latin typeface="Times New Roman"/>
                          <a:ea typeface="Times New Roman"/>
                        </a:rPr>
                        <a:t>月总贡献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E3B33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300" noProof="1" b="1">
                          <a:solidFill>
                            <a:srgbClr val="1E3B33"/>
                          </a:solidFill>
                          <a:latin typeface="Times New Roman"/>
                          <a:ea typeface="Times New Roman"/>
                        </a:rPr>
                        <a:t>扣固定成本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E3B33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300" noProof="1" b="1">
                          <a:solidFill>
                            <a:srgbClr val="1E3B33"/>
                          </a:solidFill>
                          <a:latin typeface="Times New Roman"/>
                          <a:ea typeface="Times New Roman"/>
                        </a:rPr>
                        <a:t>判断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E3B33"/>
                      </a:solidFill>
                    </a:lnB>
                    <a:noFill/>
                  </a:tcPr>
                </a:tc>
              </a:tr>
              <a:tr h="592667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>
                          <a:solidFill>
                            <a:srgbClr val="2B2822"/>
                          </a:solidFill>
                          <a:latin typeface="Times New Roman"/>
                          <a:ea typeface="Times New Roman"/>
                        </a:rPr>
                        <a:t>5 杯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>
                          <a:solidFill>
                            <a:srgbClr val="2B2822"/>
                          </a:solidFill>
                          <a:latin typeface="Times New Roman"/>
                          <a:ea typeface="Times New Roman"/>
                        </a:rPr>
                        <a:t>2,700 元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>
                          <a:solidFill>
                            <a:srgbClr val="2B2822"/>
                          </a:solidFill>
                          <a:latin typeface="Times New Roman"/>
                          <a:ea typeface="Times New Roman"/>
                        </a:rPr>
                        <a:t>780 元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>
                          <a:solidFill>
                            <a:srgbClr val="C15F3C"/>
                          </a:solidFill>
                          <a:latin typeface="Times New Roman"/>
                          <a:ea typeface="Times New Roman"/>
                        </a:rPr>
                        <a:t>-120 元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>
                          <a:solidFill>
                            <a:srgbClr val="2B2822"/>
                          </a:solidFill>
                          <a:latin typeface="Times New Roman"/>
                          <a:ea typeface="Times New Roman"/>
                        </a:rPr>
                        <a:t>不达标，迁点或撤机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</a:tr>
              <a:tr h="592667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>
                          <a:solidFill>
                            <a:srgbClr val="2B2822"/>
                          </a:solidFill>
                          <a:latin typeface="Times New Roman"/>
                          <a:ea typeface="Times New Roman"/>
                        </a:rPr>
                        <a:t>10 杯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>
                          <a:solidFill>
                            <a:srgbClr val="2B2822"/>
                          </a:solidFill>
                          <a:latin typeface="Times New Roman"/>
                          <a:ea typeface="Times New Roman"/>
                        </a:rPr>
                        <a:t>5,400 元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>
                          <a:solidFill>
                            <a:srgbClr val="2B2822"/>
                          </a:solidFill>
                          <a:latin typeface="Times New Roman"/>
                          <a:ea typeface="Times New Roman"/>
                        </a:rPr>
                        <a:t>1,560 元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>
                          <a:solidFill>
                            <a:srgbClr val="2B2822"/>
                          </a:solidFill>
                          <a:latin typeface="Times New Roman"/>
                          <a:ea typeface="Times New Roman"/>
                        </a:rPr>
                        <a:t>660 元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>
                          <a:solidFill>
                            <a:srgbClr val="2B2822"/>
                          </a:solidFill>
                          <a:latin typeface="Times New Roman"/>
                          <a:ea typeface="Times New Roman"/>
                        </a:rPr>
                        <a:t>勉强，需优化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</a:tr>
              <a:tr h="592667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>
                          <a:solidFill>
                            <a:srgbClr val="2B2822"/>
                          </a:solidFill>
                          <a:latin typeface="Times New Roman"/>
                          <a:ea typeface="Times New Roman"/>
                        </a:rPr>
                        <a:t>15 杯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>
                          <a:solidFill>
                            <a:srgbClr val="2B2822"/>
                          </a:solidFill>
                          <a:latin typeface="Times New Roman"/>
                          <a:ea typeface="Times New Roman"/>
                        </a:rPr>
                        <a:t>8,100 元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>
                          <a:solidFill>
                            <a:srgbClr val="2B2822"/>
                          </a:solidFill>
                          <a:latin typeface="Times New Roman"/>
                          <a:ea typeface="Times New Roman"/>
                        </a:rPr>
                        <a:t>2,340 元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>
                          <a:solidFill>
                            <a:srgbClr val="2B2822"/>
                          </a:solidFill>
                          <a:latin typeface="Times New Roman"/>
                          <a:ea typeface="Times New Roman"/>
                        </a:rPr>
                        <a:t>1,440 元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>
                          <a:solidFill>
                            <a:srgbClr val="2B2822"/>
                          </a:solidFill>
                          <a:latin typeface="Times New Roman"/>
                          <a:ea typeface="Times New Roman"/>
                        </a:rPr>
                        <a:t>可运营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</a:tr>
              <a:tr h="592667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>
                          <a:solidFill>
                            <a:srgbClr val="2B2822"/>
                          </a:solidFill>
                          <a:latin typeface="Times New Roman"/>
                          <a:ea typeface="Times New Roman"/>
                        </a:rPr>
                        <a:t>25 杯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>
                          <a:solidFill>
                            <a:srgbClr val="2B2822"/>
                          </a:solidFill>
                          <a:latin typeface="Times New Roman"/>
                          <a:ea typeface="Times New Roman"/>
                        </a:rPr>
                        <a:t>13,500 元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>
                          <a:solidFill>
                            <a:srgbClr val="2B2822"/>
                          </a:solidFill>
                          <a:latin typeface="Times New Roman"/>
                          <a:ea typeface="Times New Roman"/>
                        </a:rPr>
                        <a:t>3,900 元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>
                          <a:solidFill>
                            <a:srgbClr val="2B2822"/>
                          </a:solidFill>
                          <a:latin typeface="Times New Roman"/>
                          <a:ea typeface="Times New Roman"/>
                        </a:rPr>
                        <a:t>3,000 元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>
                          <a:solidFill>
                            <a:srgbClr val="2B2822"/>
                          </a:solidFill>
                          <a:latin typeface="Times New Roman"/>
                          <a:ea typeface="Times New Roman"/>
                        </a:rPr>
                        <a:t>优质点位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</a:tr>
              <a:tr h="592667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>
                          <a:solidFill>
                            <a:srgbClr val="2B2822"/>
                          </a:solidFill>
                          <a:latin typeface="Times New Roman"/>
                          <a:ea typeface="Times New Roman"/>
                        </a:rPr>
                        <a:t>40 杯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>
                          <a:solidFill>
                            <a:srgbClr val="2B2822"/>
                          </a:solidFill>
                          <a:latin typeface="Times New Roman"/>
                          <a:ea typeface="Times New Roman"/>
                        </a:rPr>
                        <a:t>21,600 元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>
                          <a:solidFill>
                            <a:srgbClr val="2B2822"/>
                          </a:solidFill>
                          <a:latin typeface="Times New Roman"/>
                          <a:ea typeface="Times New Roman"/>
                        </a:rPr>
                        <a:t>6,240 元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>
                          <a:solidFill>
                            <a:srgbClr val="2B2822"/>
                          </a:solidFill>
                          <a:latin typeface="Times New Roman"/>
                          <a:ea typeface="Times New Roman"/>
                        </a:rPr>
                        <a:t>5,340 元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>
                          <a:solidFill>
                            <a:srgbClr val="2B2822"/>
                          </a:solidFill>
                          <a:latin typeface="Times New Roman"/>
                          <a:ea typeface="Times New Roman"/>
                        </a:rPr>
                        <a:t>明星点位，防断货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right-rule"/>
          <p:cNvSpPr/>
          <p:nvPr>
            <p:extLst>
              <p:ext uri="{F5677B7D-0D2A-4D9B-9A5C-6D8D7D0E5A5D}">
                <pptd:line encoding="base64url">eyJ2aWV3Qm94IjpbMSwyODBdLCJwb2ludHMiOiIwLjUsMCAwLjUsMjgwIn0</pptd:line>
              </p:ext>
            </p:extLst>
          </p:nvPr>
        </p:nvSpPr>
        <p:spPr>
          <a:xfrm>
            <a:off x="8382000" y="2133600"/>
            <a:ext cx="12700" cy="3556000"/>
          </a:xfrm>
          <a:custGeom>
            <a:avLst/>
            <a:gdLst/>
            <a:ahLst/>
            <a:cxnLst/>
            <a:rect l="l" t="t" r="r" b="b"/>
            <a:pathLst>
              <a:path w="1" h="280">
                <a:moveTo>
                  <a:pt x="1" y="0"/>
                </a:moveTo>
                <a:lnTo>
                  <a:pt x="1" y="280"/>
                </a:lnTo>
              </a:path>
            </a:pathLst>
          </a:custGeom>
          <a:noFill/>
          <a:ln w="12700" cap="rnd">
            <a:solidFill>
              <a:srgbClr val="D9CFBB"/>
            </a:solidFill>
            <a:round/>
          </a:ln>
        </p:spPr>
      </p:sp>
      <p:sp>
        <p:nvSpPr>
          <p:cNvPr id="7" name="kpi1-num"/>
          <p:cNvSpPr txBox="1"/>
          <p:nvPr/>
        </p:nvSpPr>
        <p:spPr>
          <a:xfrm>
            <a:off x="8737600" y="2159000"/>
            <a:ext cx="26416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3200" noProof="1" b="1">
                <a:solidFill>
                  <a:srgbClr val="C15F3C"/>
                </a:solidFill>
                <a:latin typeface="MiSans"/>
                <a:ea typeface="MiSans"/>
              </a:rPr>
              <a:t>≈5.8 杯/日</a:t>
            </a:r>
            <a:endParaRPr lang="en-US" sz="1600" noProof="1"/>
          </a:p>
        </p:txBody>
      </p:sp>
      <p:sp>
        <p:nvSpPr>
          <p:cNvPr id="8" name="kpi1-desc"/>
          <p:cNvSpPr txBox="1"/>
          <p:nvPr/>
        </p:nvSpPr>
        <p:spPr>
          <a:xfrm>
            <a:off x="8737600" y="2743200"/>
            <a:ext cx="26416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7A7264"/>
                </a:solidFill>
                <a:latin typeface="MiSans"/>
                <a:ea typeface="MiSans"/>
              </a:rPr>
              <a:t>单机盈亏平衡杯量（900 ÷ 5.2 ÷ 30）</a:t>
            </a:r>
            <a:endParaRPr lang="en-US" sz="1100" noProof="1"/>
          </a:p>
        </p:txBody>
      </p:sp>
      <p:sp>
        <p:nvSpPr>
          <p:cNvPr id="9" name="kpi2-num"/>
          <p:cNvSpPr txBox="1"/>
          <p:nvPr/>
        </p:nvSpPr>
        <p:spPr>
          <a:xfrm>
            <a:off x="8737600" y="3403600"/>
            <a:ext cx="26416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3200" noProof="1" b="1">
                <a:solidFill>
                  <a:srgbClr val="1E3B33"/>
                </a:solidFill>
                <a:latin typeface="MiSans"/>
                <a:ea typeface="MiSans"/>
              </a:rPr>
              <a:t>≈12.2 杯/日</a:t>
            </a:r>
            <a:endParaRPr lang="en-US" sz="1600" noProof="1"/>
          </a:p>
        </p:txBody>
      </p:sp>
      <p:sp>
        <p:nvSpPr>
          <p:cNvPr id="10" name="kpi2-desc"/>
          <p:cNvSpPr txBox="1"/>
          <p:nvPr/>
        </p:nvSpPr>
        <p:spPr>
          <a:xfrm>
            <a:off x="8737600" y="3987800"/>
            <a:ext cx="26416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7A7264"/>
                </a:solidFill>
                <a:latin typeface="MiSans"/>
                <a:ea typeface="MiSans"/>
              </a:rPr>
              <a:t>若设备投入 18,000 元、目标 18 个月回收的综合门槛</a:t>
            </a:r>
            <a:endParaRPr lang="en-US" sz="1100" noProof="1"/>
          </a:p>
        </p:txBody>
      </p:sp>
      <p:sp>
        <p:nvSpPr>
          <p:cNvPr id="11" name="kpi3"/>
          <p:cNvSpPr txBox="1"/>
          <p:nvPr/>
        </p:nvSpPr>
        <p:spPr>
          <a:xfrm>
            <a:off x="8737600" y="4826000"/>
            <a:ext cx="26416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7A7264"/>
                </a:solidFill>
                <a:latin typeface="MiSans"/>
                <a:ea typeface="MiSans"/>
              </a:rPr>
              <a:t>财务纪律：同时披露门店净收入、代理净贡献与回收期，不只展示毛利率。</a:t>
            </a:r>
            <a:endParaRPr lang="en-US" sz="1100" noProof="1"/>
          </a:p>
        </p:txBody>
      </p:sp>
      <p:sp>
        <p:nvSpPr>
          <p:cNvPr id="12" name="source"/>
          <p:cNvSpPr txBox="1"/>
          <p:nvPr/>
        </p:nvSpPr>
        <p:spPr>
          <a:xfrm>
            <a:off x="812800" y="5943600"/>
            <a:ext cx="105664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000" noProof="1">
                <a:solidFill>
                  <a:srgbClr val="7A7264"/>
                </a:solidFill>
                <a:latin typeface="MiSans"/>
                <a:ea typeface="MiSans"/>
              </a:rPr>
              <a:t>说明：以上为情景测算（月按 30 天），未计税费、总部研发营销、坏账与大修；所有参数须以真实 BOM、合同与 30–90 天试点数据替换。最容易误判的三个变量：零售价、日均杯量、综合损耗率。</a:t>
            </a:r>
            <a:endParaRPr lang="en-US" sz="100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122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6096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 noProof="1" b="1" spc="300" kern="0">
                <a:solidFill>
                  <a:srgbClr val="D9A05B"/>
                </a:solidFill>
                <a:latin typeface="MiSans"/>
                <a:ea typeface="MiSans"/>
              </a:rPr>
              <a:t>04 ｜ 收益测算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914400"/>
            <a:ext cx="105664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5000"/>
              </a:lnSpc>
            </a:pPr>
            <a:r>
              <a:rPr lang="en-US" sz="2800" noProof="1" b="1">
                <a:solidFill>
                  <a:srgbClr val="F6EFE2"/>
                </a:solidFill>
                <a:latin typeface="MiSans"/>
                <a:ea typeface="MiSans"/>
              </a:rPr>
              <a:t>终端门店视角：一笔算得过来的账</a:t>
            </a:r>
            <a:endParaRPr lang="en-US" sz="2800" noProof="1"/>
          </a:p>
        </p:txBody>
      </p:sp>
      <p:sp>
        <p:nvSpPr>
          <p:cNvPr id="4" name="big"/>
          <p:cNvSpPr txBox="1"/>
          <p:nvPr/>
        </p:nvSpPr>
        <p:spPr>
          <a:xfrm>
            <a:off x="812800" y="1905000"/>
            <a:ext cx="5842000" cy="190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9600" noProof="1" b="1">
                <a:solidFill>
                  <a:srgbClr val="C15F3C"/>
                </a:solidFill>
                <a:latin typeface="MiSans"/>
                <a:ea typeface="MiSans"/>
              </a:rPr>
              <a:t>3–5 杯</a:t>
            </a:r>
            <a:endParaRPr lang="en-US" sz="1600" noProof="1"/>
          </a:p>
        </p:txBody>
      </p:sp>
      <p:sp>
        <p:nvSpPr>
          <p:cNvPr id="5" name="big-desc"/>
          <p:cNvSpPr txBox="1"/>
          <p:nvPr/>
        </p:nvSpPr>
        <p:spPr>
          <a:xfrm>
            <a:off x="812800" y="3962400"/>
            <a:ext cx="5334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600" noProof="1">
                <a:solidFill>
                  <a:srgbClr val="F6EFE2"/>
                </a:solidFill>
                <a:latin typeface="MiSans"/>
                <a:ea typeface="MiSans"/>
              </a:rPr>
              <a:t>每天卖 3–5 杯即可打平门店租金，</a:t>
            </a:r>
            <a:r>
              <a:rPr lang="en-US" sz="1600" noProof="1" b="1">
                <a:solidFill>
                  <a:srgbClr val="F6EFE2"/>
                </a:solidFill>
                <a:latin typeface="MiSans"/>
                <a:ea typeface="MiSans"/>
              </a:rPr>
              <a:t>之后每卖一杯，都是门店的净贡献。</a:t>
            </a:r>
            <a:endParaRPr lang="en-US" sz="1600" noProof="1"/>
          </a:p>
        </p:txBody>
      </p:sp>
      <p:sp>
        <p:nvSpPr>
          <p:cNvPr id="6" name="right-rule"/>
          <p:cNvSpPr/>
          <p:nvPr>
            <p:extLst>
              <p:ext uri="{F5677B7D-0D2A-4D9B-9A5C-6D8D7D0E5A5D}">
                <pptd:line encoding="base64url">eyJ2aWV3Qm94IjpbMSwyNjBdLCJwb2ludHMiOiIwLjUsMCAwLjUsMjYwIn0</pptd:line>
              </p:ext>
            </p:extLst>
          </p:nvPr>
        </p:nvSpPr>
        <p:spPr>
          <a:xfrm>
            <a:off x="7112000" y="1905000"/>
            <a:ext cx="12700" cy="3302000"/>
          </a:xfrm>
          <a:custGeom>
            <a:avLst/>
            <a:gdLst/>
            <a:ahLst/>
            <a:cxnLst/>
            <a:rect l="l" t="t" r="r" b="b"/>
            <a:pathLst>
              <a:path w="1" h="260">
                <a:moveTo>
                  <a:pt x="1" y="0"/>
                </a:moveTo>
                <a:lnTo>
                  <a:pt x="1" y="260"/>
                </a:lnTo>
              </a:path>
            </a:pathLst>
          </a:custGeom>
          <a:noFill/>
          <a:ln w="12700" cap="rnd">
            <a:solidFill>
              <a:srgbClr val="3A574C"/>
            </a:solidFill>
            <a:round/>
          </a:ln>
        </p:spPr>
      </p:sp>
      <p:sp>
        <p:nvSpPr>
          <p:cNvPr id="7" name="p1"/>
          <p:cNvSpPr txBox="1"/>
          <p:nvPr/>
        </p:nvSpPr>
        <p:spPr>
          <a:xfrm>
            <a:off x="7518400" y="1930400"/>
            <a:ext cx="38608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400" noProof="1" b="1">
                <a:solidFill>
                  <a:srgbClr val="F6EFE2"/>
                </a:solidFill>
                <a:latin typeface="MiSans"/>
                <a:ea typeface="MiSans"/>
              </a:rPr>
              <a:t>不增人工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lang="en-US" sz="1150" noProof="1">
                <a:solidFill>
                  <a:srgbClr val="A9B8B0"/>
                </a:solidFill>
                <a:latin typeface="MiSans"/>
                <a:ea typeface="MiSans"/>
              </a:rPr>
              <a:t>三步操作、日清 ≤10 分钟，责任到班次</a:t>
            </a:r>
            <a:endParaRPr lang="en-US" sz="1600" noProof="1"/>
          </a:p>
        </p:txBody>
      </p:sp>
      <p:sp>
        <p:nvSpPr>
          <p:cNvPr id="8" name="p2"/>
          <p:cNvSpPr txBox="1"/>
          <p:nvPr/>
        </p:nvSpPr>
        <p:spPr>
          <a:xfrm>
            <a:off x="7518400" y="2997200"/>
            <a:ext cx="38608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400" noProof="1" b="1">
                <a:solidFill>
                  <a:srgbClr val="F6EFE2"/>
                </a:solidFill>
                <a:latin typeface="MiSans"/>
                <a:ea typeface="MiSans"/>
              </a:rPr>
              <a:t>不增面积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lang="en-US" sz="1150" noProof="1">
                <a:solidFill>
                  <a:srgbClr val="A9B8B0"/>
                </a:solidFill>
                <a:latin typeface="MiSans"/>
                <a:ea typeface="MiSans"/>
              </a:rPr>
              <a:t>约 0.5㎡ 占地，替代成本可事先算清</a:t>
            </a:r>
            <a:endParaRPr lang="en-US" sz="1600" noProof="1"/>
          </a:p>
        </p:txBody>
      </p:sp>
      <p:sp>
        <p:nvSpPr>
          <p:cNvPr id="9" name="p3"/>
          <p:cNvSpPr txBox="1"/>
          <p:nvPr/>
        </p:nvSpPr>
        <p:spPr>
          <a:xfrm>
            <a:off x="7518400" y="4064000"/>
            <a:ext cx="38608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400" noProof="1" b="1">
                <a:solidFill>
                  <a:srgbClr val="F6EFE2"/>
                </a:solidFill>
                <a:latin typeface="MiSans"/>
                <a:ea typeface="MiSans"/>
              </a:rPr>
              <a:t>多一个高毛利现制品类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lang="en-US" sz="1150" noProof="1">
                <a:solidFill>
                  <a:srgbClr val="A9B8B0"/>
                </a:solidFill>
                <a:latin typeface="MiSans"/>
                <a:ea typeface="MiSans"/>
              </a:rPr>
              <a:t>填补非正餐时段，提高客单与到店理由</a:t>
            </a:r>
            <a:endParaRPr lang="en-US" sz="1600" noProof="1"/>
          </a:p>
        </p:txBody>
      </p:sp>
      <p:sp>
        <p:nvSpPr>
          <p:cNvPr id="10" name="foot-rule"/>
          <p:cNvSpPr/>
          <p:nvPr>
            <p:extLst>
              <p:ext uri="{F5677B7D-0D2A-4D9B-9A5C-6D8D7D0E5A5D}">
                <pptd:line encoding="base64url">eyJ2aWV3Qm94IjpbODMyLDJdLCJwb2ludHMiOiIwLDEgODMyLDEifQ</pptd:line>
              </p:ext>
            </p:extLst>
          </p:nvPr>
        </p:nvSpPr>
        <p:spPr>
          <a:xfrm>
            <a:off x="812800" y="5588000"/>
            <a:ext cx="10566400" cy="25400"/>
          </a:xfrm>
          <a:custGeom>
            <a:avLst/>
            <a:gdLst/>
            <a:ahLst/>
            <a:cxnLst/>
            <a:rect l="l" t="t" r="r" b="b"/>
            <a:pathLst>
              <a:path w="832" h="2">
                <a:moveTo>
                  <a:pt x="0" y="1"/>
                </a:moveTo>
                <a:lnTo>
                  <a:pt x="832" y="1"/>
                </a:lnTo>
              </a:path>
            </a:pathLst>
          </a:custGeom>
          <a:noFill/>
          <a:ln w="12700" cap="rnd">
            <a:solidFill>
              <a:srgbClr val="3A574C"/>
            </a:solidFill>
            <a:round/>
          </a:ln>
        </p:spPr>
      </p:sp>
      <p:sp>
        <p:nvSpPr>
          <p:cNvPr id="11" name="foot"/>
          <p:cNvSpPr txBox="1"/>
          <p:nvPr/>
        </p:nvSpPr>
        <p:spPr>
          <a:xfrm>
            <a:off x="812800" y="5816600"/>
            <a:ext cx="105664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A9B8B0"/>
                </a:solidFill>
                <a:latin typeface="MiSans"/>
                <a:ea typeface="MiSans"/>
              </a:rPr>
              <a:t>门店月租金由代理商自主定价（建议 800–1,200 元/月或按杯分成）。门店账算得过来，代理商的设备才铺得出去。</a:t>
            </a:r>
            <a:endParaRPr lang="en-US" sz="1200" noProof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6EF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6096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 noProof="1" b="1" spc="300" kern="0">
                <a:solidFill>
                  <a:srgbClr val="C15F3C"/>
                </a:solidFill>
                <a:latin typeface="MiSans"/>
                <a:ea typeface="MiSans"/>
              </a:rPr>
              <a:t>04 ｜ 收益测算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914400"/>
            <a:ext cx="105664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5000"/>
              </a:lnSpc>
            </a:pPr>
            <a:r>
              <a:rPr lang="en-US" sz="2800" noProof="1" b="1">
                <a:solidFill>
                  <a:srgbClr val="1E3B33"/>
                </a:solidFill>
                <a:latin typeface="MiSans"/>
                <a:ea typeface="MiSans"/>
              </a:rPr>
              <a:t>代理商收益结构：「设备 + 耗材」双引擎</a:t>
            </a:r>
            <a:endParaRPr lang="en-US" sz="2800" noProof="1"/>
          </a:p>
        </p:txBody>
      </p:sp>
      <p:sp>
        <p:nvSpPr>
          <p:cNvPr id="4" name="subtitle"/>
          <p:cNvSpPr txBox="1"/>
          <p:nvPr/>
        </p:nvSpPr>
        <p:spPr>
          <a:xfrm>
            <a:off x="812800" y="1473200"/>
            <a:ext cx="10566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7A7264"/>
                </a:solidFill>
                <a:latin typeface="MiSans"/>
                <a:ea typeface="MiSans"/>
              </a:rPr>
              <a:t>收益取决于点位质量与运营水平。以下为收益构成，非收益承诺。</a:t>
            </a:r>
            <a:endParaRPr lang="en-US" sz="1200" noProof="1"/>
          </a:p>
        </p:txBody>
      </p:sp>
      <p:sp>
        <p:nvSpPr>
          <p:cNvPr id="5" name="e1-num"/>
          <p:cNvSpPr txBox="1"/>
          <p:nvPr/>
        </p:nvSpPr>
        <p:spPr>
          <a:xfrm>
            <a:off x="812800" y="2133600"/>
            <a:ext cx="23368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C15F3C"/>
                </a:solidFill>
                <a:latin typeface="MiSans"/>
                <a:ea typeface="MiSans"/>
              </a:rPr>
              <a:t>01</a:t>
            </a:r>
            <a:endParaRPr lang="en-US" sz="2600" noProof="1"/>
          </a:p>
        </p:txBody>
      </p:sp>
      <p:sp>
        <p:nvSpPr>
          <p:cNvPr id="6" name="e1-title"/>
          <p:cNvSpPr txBox="1"/>
          <p:nvPr/>
        </p:nvSpPr>
        <p:spPr>
          <a:xfrm>
            <a:off x="812800" y="2692400"/>
            <a:ext cx="23368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600" noProof="1" b="1">
                <a:solidFill>
                  <a:srgbClr val="1E3B33"/>
                </a:solidFill>
                <a:latin typeface="MiSans"/>
                <a:ea typeface="MiSans"/>
              </a:rPr>
              <a:t>租金差价</a:t>
            </a:r>
            <a:endParaRPr lang="en-US" sz="1600" noProof="1"/>
          </a:p>
        </p:txBody>
      </p:sp>
      <p:sp>
        <p:nvSpPr>
          <p:cNvPr id="7" name="e1-body"/>
          <p:cNvSpPr txBox="1"/>
          <p:nvPr/>
        </p:nvSpPr>
        <p:spPr>
          <a:xfrm>
            <a:off x="812800" y="3098800"/>
            <a:ext cx="2336800" cy="1219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7A7264"/>
                </a:solidFill>
                <a:latin typeface="MiSans"/>
                <a:ea typeface="MiSans"/>
              </a:rPr>
              <a:t>门店月租由代理商自主定价（建议 800–1,200 元/月或按杯分成），与我司租金之间的差价即利润</a:t>
            </a:r>
            <a:endParaRPr lang="en-US" sz="1150" noProof="1"/>
          </a:p>
        </p:txBody>
      </p:sp>
      <p:sp>
        <p:nvSpPr>
          <p:cNvPr id="8" name="div1"/>
          <p:cNvSpPr/>
          <p:nvPr>
            <p:extLst>
              <p:ext uri="{F5677B7D-0D2A-4D9B-9A5C-6D8D7D0E5A5D}">
                <pptd:line encoding="base64url">eyJ2aWV3Qm94IjpbMSwxNjhdLCJwb2ludHMiOiIwLjUsMCAwLjUsMTY4In0</pptd:line>
              </p:ext>
            </p:extLst>
          </p:nvPr>
        </p:nvSpPr>
        <p:spPr>
          <a:xfrm>
            <a:off x="3454400" y="2184400"/>
            <a:ext cx="12700" cy="2133600"/>
          </a:xfrm>
          <a:custGeom>
            <a:avLst/>
            <a:gdLst/>
            <a:ahLst/>
            <a:cxnLst/>
            <a:rect l="l" t="t" r="r" b="b"/>
            <a:pathLst>
              <a:path w="1" h="168">
                <a:moveTo>
                  <a:pt x="1" y="0"/>
                </a:moveTo>
                <a:lnTo>
                  <a:pt x="1" y="168"/>
                </a:lnTo>
              </a:path>
            </a:pathLst>
          </a:custGeom>
          <a:noFill/>
          <a:ln w="12700" cap="rnd">
            <a:solidFill>
              <a:srgbClr val="D9CFBB"/>
            </a:solidFill>
            <a:round/>
          </a:ln>
        </p:spPr>
      </p:sp>
      <p:sp>
        <p:nvSpPr>
          <p:cNvPr id="9" name="e2-num"/>
          <p:cNvSpPr txBox="1"/>
          <p:nvPr/>
        </p:nvSpPr>
        <p:spPr>
          <a:xfrm>
            <a:off x="3759200" y="2133600"/>
            <a:ext cx="23368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C15F3C"/>
                </a:solidFill>
                <a:latin typeface="MiSans"/>
                <a:ea typeface="MiSans"/>
              </a:rPr>
              <a:t>02</a:t>
            </a:r>
            <a:endParaRPr lang="en-US" sz="2600" noProof="1"/>
          </a:p>
        </p:txBody>
      </p:sp>
      <p:sp>
        <p:nvSpPr>
          <p:cNvPr id="10" name="e2-title"/>
          <p:cNvSpPr txBox="1"/>
          <p:nvPr/>
        </p:nvSpPr>
        <p:spPr>
          <a:xfrm>
            <a:off x="3759200" y="2692400"/>
            <a:ext cx="23368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600" noProof="1" b="1">
                <a:solidFill>
                  <a:srgbClr val="1E3B33"/>
                </a:solidFill>
                <a:latin typeface="MiSans"/>
                <a:ea typeface="MiSans"/>
              </a:rPr>
              <a:t>耗材复购利润</a:t>
            </a:r>
            <a:endParaRPr lang="en-US" sz="1600" noProof="1"/>
          </a:p>
        </p:txBody>
      </p:sp>
      <p:sp>
        <p:nvSpPr>
          <p:cNvPr id="11" name="e2-body"/>
          <p:cNvSpPr txBox="1"/>
          <p:nvPr/>
        </p:nvSpPr>
        <p:spPr>
          <a:xfrm>
            <a:off x="3759200" y="3098800"/>
            <a:ext cx="2336800" cy="1219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7A7264"/>
                </a:solidFill>
                <a:latin typeface="MiSans"/>
                <a:ea typeface="MiSans"/>
              </a:rPr>
              <a:t>每一杯果杯 / 奶浆耗材都由代理商持续供应，卖得越久、复购越多，收益越稳</a:t>
            </a:r>
            <a:endParaRPr lang="en-US" sz="1150" noProof="1"/>
          </a:p>
        </p:txBody>
      </p:sp>
      <p:sp>
        <p:nvSpPr>
          <p:cNvPr id="12" name="div2"/>
          <p:cNvSpPr/>
          <p:nvPr>
            <p:extLst>
              <p:ext uri="{F5677B7D-0D2A-4D9B-9A5C-6D8D7D0E5A5D}">
                <pptd:line encoding="base64url">eyJ2aWV3Qm94IjpbMSwxNjhdLCJwb2ludHMiOiIwLjUsMCAwLjUsMTY4In0</pptd:line>
              </p:ext>
            </p:extLst>
          </p:nvPr>
        </p:nvSpPr>
        <p:spPr>
          <a:xfrm>
            <a:off x="6400800" y="2184400"/>
            <a:ext cx="12700" cy="2133600"/>
          </a:xfrm>
          <a:custGeom>
            <a:avLst/>
            <a:gdLst/>
            <a:ahLst/>
            <a:cxnLst/>
            <a:rect l="l" t="t" r="r" b="b"/>
            <a:pathLst>
              <a:path w="1" h="168">
                <a:moveTo>
                  <a:pt x="1" y="0"/>
                </a:moveTo>
                <a:lnTo>
                  <a:pt x="1" y="168"/>
                </a:lnTo>
              </a:path>
            </a:pathLst>
          </a:custGeom>
          <a:noFill/>
          <a:ln w="12700" cap="rnd">
            <a:solidFill>
              <a:srgbClr val="D9CFBB"/>
            </a:solidFill>
            <a:round/>
          </a:ln>
        </p:spPr>
      </p:sp>
      <p:sp>
        <p:nvSpPr>
          <p:cNvPr id="13" name="e3-num"/>
          <p:cNvSpPr txBox="1"/>
          <p:nvPr/>
        </p:nvSpPr>
        <p:spPr>
          <a:xfrm>
            <a:off x="6705600" y="2133600"/>
            <a:ext cx="23368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C15F3C"/>
                </a:solidFill>
                <a:latin typeface="MiSans"/>
                <a:ea typeface="MiSans"/>
              </a:rPr>
              <a:t>03</a:t>
            </a:r>
            <a:endParaRPr lang="en-US" sz="2600" noProof="1"/>
          </a:p>
        </p:txBody>
      </p:sp>
      <p:sp>
        <p:nvSpPr>
          <p:cNvPr id="14" name="e3-title"/>
          <p:cNvSpPr txBox="1"/>
          <p:nvPr/>
        </p:nvSpPr>
        <p:spPr>
          <a:xfrm>
            <a:off x="6705600" y="2692400"/>
            <a:ext cx="23368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600" noProof="1" b="1">
                <a:solidFill>
                  <a:srgbClr val="1E3B33"/>
                </a:solidFill>
                <a:latin typeface="MiSans"/>
                <a:ea typeface="MiSans"/>
              </a:rPr>
              <a:t>服务收益</a:t>
            </a:r>
            <a:endParaRPr lang="en-US" sz="1600" noProof="1"/>
          </a:p>
        </p:txBody>
      </p:sp>
      <p:sp>
        <p:nvSpPr>
          <p:cNvPr id="15" name="e3-body"/>
          <p:cNvSpPr txBox="1"/>
          <p:nvPr/>
        </p:nvSpPr>
        <p:spPr>
          <a:xfrm>
            <a:off x="6705600" y="3098800"/>
            <a:ext cx="2336800" cy="1219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7A7264"/>
                </a:solidFill>
                <a:latin typeface="MiSans"/>
                <a:ea typeface="MiSans"/>
              </a:rPr>
              <a:t>本地拓点、补货、初级维修与巡检形成服务性收入，团队越成熟收益越厚</a:t>
            </a:r>
            <a:endParaRPr lang="en-US" sz="1150" noProof="1"/>
          </a:p>
        </p:txBody>
      </p:sp>
      <p:sp>
        <p:nvSpPr>
          <p:cNvPr id="16" name="div3"/>
          <p:cNvSpPr/>
          <p:nvPr>
            <p:extLst>
              <p:ext uri="{F5677B7D-0D2A-4D9B-9A5C-6D8D7D0E5A5D}">
                <pptd:line encoding="base64url">eyJ2aWV3Qm94IjpbMSwxNjhdLCJwb2ludHMiOiIwLjUsMCAwLjUsMTY4In0</pptd:line>
              </p:ext>
            </p:extLst>
          </p:nvPr>
        </p:nvSpPr>
        <p:spPr>
          <a:xfrm>
            <a:off x="9347200" y="2184400"/>
            <a:ext cx="12700" cy="2133600"/>
          </a:xfrm>
          <a:custGeom>
            <a:avLst/>
            <a:gdLst/>
            <a:ahLst/>
            <a:cxnLst/>
            <a:rect l="l" t="t" r="r" b="b"/>
            <a:pathLst>
              <a:path w="1" h="168">
                <a:moveTo>
                  <a:pt x="1" y="0"/>
                </a:moveTo>
                <a:lnTo>
                  <a:pt x="1" y="168"/>
                </a:lnTo>
              </a:path>
            </a:pathLst>
          </a:custGeom>
          <a:noFill/>
          <a:ln w="12700" cap="rnd">
            <a:solidFill>
              <a:srgbClr val="D9CFBB"/>
            </a:solidFill>
            <a:round/>
          </a:ln>
        </p:spPr>
      </p:sp>
      <p:sp>
        <p:nvSpPr>
          <p:cNvPr id="17" name="e4-num"/>
          <p:cNvSpPr txBox="1"/>
          <p:nvPr/>
        </p:nvSpPr>
        <p:spPr>
          <a:xfrm>
            <a:off x="9652000" y="2133600"/>
            <a:ext cx="17272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C15F3C"/>
                </a:solidFill>
                <a:latin typeface="MiSans"/>
                <a:ea typeface="MiSans"/>
              </a:rPr>
              <a:t>04</a:t>
            </a:r>
            <a:endParaRPr lang="en-US" sz="2600" noProof="1"/>
          </a:p>
        </p:txBody>
      </p:sp>
      <p:sp>
        <p:nvSpPr>
          <p:cNvPr id="18" name="e4-title"/>
          <p:cNvSpPr txBox="1"/>
          <p:nvPr/>
        </p:nvSpPr>
        <p:spPr>
          <a:xfrm>
            <a:off x="9652000" y="2692400"/>
            <a:ext cx="17272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600" noProof="1" b="1">
                <a:solidFill>
                  <a:srgbClr val="1E3B33"/>
                </a:solidFill>
                <a:latin typeface="MiSans"/>
                <a:ea typeface="MiSans"/>
              </a:rPr>
              <a:t>阶梯激励</a:t>
            </a:r>
            <a:endParaRPr lang="en-US" sz="1600" noProof="1"/>
          </a:p>
        </p:txBody>
      </p:sp>
      <p:sp>
        <p:nvSpPr>
          <p:cNvPr id="19" name="e4-body"/>
          <p:cNvSpPr txBox="1"/>
          <p:nvPr/>
        </p:nvSpPr>
        <p:spPr>
          <a:xfrm>
            <a:off x="9652000" y="3098800"/>
            <a:ext cx="1727200" cy="1219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7A7264"/>
                </a:solidFill>
                <a:latin typeface="MiSans"/>
                <a:ea typeface="MiSans"/>
              </a:rPr>
              <a:t>活跃机数、杯量、回款达标后获得阶梯返利与县区升级通道</a:t>
            </a:r>
            <a:endParaRPr lang="en-US" sz="1150" noProof="1"/>
          </a:p>
        </p:txBody>
      </p:sp>
      <p:sp>
        <p:nvSpPr>
          <p:cNvPr id="20" name="arrow-rule"/>
          <p:cNvSpPr/>
          <p:nvPr>
            <p:extLst>
              <p:ext uri="{F5677B7D-0D2A-4D9B-9A5C-6D8D7D0E5A5D}">
                <pptd:line encoding="base64url">eyJ2aWV3Qm94IjpbODMyLDJdLCJwb2ludHMiOiIwLDEgODMyLDEifQ</pptd:line>
              </p:ext>
            </p:extLst>
          </p:nvPr>
        </p:nvSpPr>
        <p:spPr>
          <a:xfrm>
            <a:off x="812800" y="4724400"/>
            <a:ext cx="10566400" cy="25400"/>
          </a:xfrm>
          <a:custGeom>
            <a:avLst/>
            <a:gdLst/>
            <a:ahLst/>
            <a:cxnLst/>
            <a:rect l="l" t="t" r="r" b="b"/>
            <a:pathLst>
              <a:path w="832" h="2">
                <a:moveTo>
                  <a:pt x="0" y="1"/>
                </a:moveTo>
                <a:lnTo>
                  <a:pt x="832" y="1"/>
                </a:lnTo>
              </a:path>
            </a:pathLst>
          </a:custGeom>
          <a:noFill/>
          <a:ln w="19050" cap="rnd">
            <a:solidFill>
              <a:srgbClr val="1E3B33"/>
            </a:solidFill>
            <a:round/>
          </a:ln>
        </p:spPr>
      </p:sp>
      <p:sp>
        <p:nvSpPr>
          <p:cNvPr id="21" name="engine"/>
          <p:cNvSpPr txBox="1"/>
          <p:nvPr/>
        </p:nvSpPr>
        <p:spPr>
          <a:xfrm>
            <a:off x="812800" y="5003800"/>
            <a:ext cx="105664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70000"/>
              </a:lnSpc>
            </a:pPr>
            <a:r>
              <a:rPr lang="en-US" sz="1350" noProof="1" b="1">
                <a:solidFill>
                  <a:srgbClr val="2B2822"/>
                </a:solidFill>
                <a:latin typeface="MiSans"/>
                <a:ea typeface="MiSans"/>
              </a:rPr>
              <a:t>为什么这套结构对代理商友好：</a:t>
            </a:r>
            <a:r>
              <a:rPr lang="en-US" sz="1350" noProof="1">
                <a:solidFill>
                  <a:srgbClr val="2B2822"/>
                </a:solidFill>
                <a:latin typeface="MiSans"/>
                <a:ea typeface="MiSans"/>
              </a:rPr>
              <a:t>租金差价当月可见，耗材复购逐年累积；设备是租的，</a:t>
            </a:r>
            <a:r>
              <a:rPr lang="en-US" sz="1350" noProof="1" b="1">
                <a:solidFill>
                  <a:srgbClr val="C15F3C"/>
                </a:solidFill>
                <a:latin typeface="MiSans"/>
                <a:ea typeface="MiSans"/>
              </a:rPr>
              <a:t>只要终端有销量，就能持续增配点位</a:t>
            </a:r>
            <a:r>
              <a:rPr lang="en-US" sz="1350" noProof="1">
                <a:solidFill>
                  <a:srgbClr val="2B2822"/>
                </a:solidFill>
                <a:latin typeface="MiSans"/>
                <a:ea typeface="MiSans"/>
              </a:rPr>
              <a:t>，没有一次性大额设备资金压力。</a:t>
            </a:r>
            <a:endParaRPr lang="en-US" sz="1350" noProof="1"/>
          </a:p>
        </p:txBody>
      </p:sp>
      <p:sp>
        <p:nvSpPr>
          <p:cNvPr id="22" name="note"/>
          <p:cNvSpPr txBox="1"/>
          <p:nvPr/>
        </p:nvSpPr>
        <p:spPr>
          <a:xfrm>
            <a:off x="812800" y="5969000"/>
            <a:ext cx="105664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7A7264"/>
                </a:solidFill>
                <a:latin typeface="MiSans"/>
                <a:ea typeface="MiSans"/>
              </a:rPr>
              <a:t>实际收益取决于点位质量与运营水平；写字楼、高校、医院、交通枢纽、健身场所等成熟场景均可投放。招商传播不承诺「躺赚」「稳赚」「几个月必回本」。</a:t>
            </a:r>
            <a:endParaRPr lang="en-US" sz="1050" noProof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6EF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6096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 noProof="1" b="1" spc="300" kern="0">
                <a:solidFill>
                  <a:srgbClr val="C15F3C"/>
                </a:solidFill>
                <a:latin typeface="MiSans"/>
                <a:ea typeface="MiSans"/>
              </a:rPr>
              <a:t>05 ｜ 招商政策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914400"/>
            <a:ext cx="105664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5000"/>
              </a:lnSpc>
            </a:pPr>
            <a:r>
              <a:rPr lang="en-US" sz="2800" noProof="1" b="1">
                <a:solidFill>
                  <a:srgbClr val="1E3B33"/>
                </a:solidFill>
                <a:latin typeface="MiSans"/>
                <a:ea typeface="MiSans"/>
              </a:rPr>
              <a:t>双品牌策略：按机型分配品牌</a:t>
            </a:r>
            <a:endParaRPr lang="en-US" sz="2800" noProof="1"/>
          </a:p>
        </p:txBody>
      </p:sp>
      <p:sp>
        <p:nvSpPr>
          <p:cNvPr id="4" name="subtitle"/>
          <p:cNvSpPr txBox="1"/>
          <p:nvPr/>
        </p:nvSpPr>
        <p:spPr>
          <a:xfrm>
            <a:off x="812800" y="1473200"/>
            <a:ext cx="10566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7A7264"/>
                </a:solidFill>
                <a:latin typeface="MiSans"/>
                <a:ea typeface="MiSans"/>
              </a:rPr>
              <a:t>两个品牌均为我司运营品牌，统一视觉与价格体系；代理商须遵守陈列、定价、清洁与视觉规范。</a:t>
            </a:r>
            <a:endParaRPr lang="en-US" sz="1200" noProof="1"/>
          </a:p>
        </p:txBody>
      </p:sp>
      <p:sp>
        <p:nvSpPr>
          <p:cNvPr id="5" name="b1-rule"/>
          <p:cNvSpPr/>
          <p:nvPr>
            <p:extLst>
              <p:ext uri="{F5677B7D-0D2A-4D9B-9A5C-6D8D7D0E5A5D}">
                <pptd:line encoding="base64url">eyJ2aWV3Qm94IjpbNDAwLDNdLCJwb2ludHMiOiIwLDEuNSA0MDAsMS41In0</pptd:line>
              </p:ext>
            </p:extLst>
          </p:nvPr>
        </p:nvSpPr>
        <p:spPr>
          <a:xfrm>
            <a:off x="812800" y="2133600"/>
            <a:ext cx="5080000" cy="38100"/>
          </a:xfrm>
          <a:custGeom>
            <a:avLst/>
            <a:gdLst/>
            <a:ahLst/>
            <a:cxnLst/>
            <a:rect l="l" t="t" r="r" b="b"/>
            <a:pathLst>
              <a:path w="400" h="3">
                <a:moveTo>
                  <a:pt x="0" y="2"/>
                </a:moveTo>
                <a:lnTo>
                  <a:pt x="400" y="2"/>
                </a:lnTo>
              </a:path>
            </a:pathLst>
          </a:custGeom>
          <a:noFill/>
          <a:ln w="38100" cap="rnd">
            <a:solidFill>
              <a:srgbClr val="1E3B33"/>
            </a:solidFill>
            <a:round/>
          </a:ln>
        </p:spPr>
      </p:sp>
      <p:sp>
        <p:nvSpPr>
          <p:cNvPr id="6" name="b1-name"/>
          <p:cNvSpPr txBox="1"/>
          <p:nvPr/>
        </p:nvSpPr>
        <p:spPr>
          <a:xfrm>
            <a:off x="812800" y="2362200"/>
            <a:ext cx="508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3000" noProof="1" b="1">
                <a:solidFill>
                  <a:srgbClr val="1E3B33"/>
                </a:solidFill>
                <a:latin typeface="MiSans"/>
                <a:ea typeface="MiSans"/>
              </a:rPr>
              <a:t>果音</a:t>
            </a:r>
            <a:r>
              <a:rPr lang="en-US" sz="1300" noProof="1">
                <a:solidFill>
                  <a:srgbClr val="7A7264"/>
                </a:solidFill>
                <a:latin typeface="MiSans"/>
                <a:ea typeface="MiSans"/>
              </a:rPr>
              <a:t>　单机 · 标准果昔点位</a:t>
            </a:r>
            <a:endParaRPr lang="en-US" sz="1600" noProof="1"/>
          </a:p>
        </p:txBody>
      </p:sp>
      <p:sp>
        <p:nvSpPr>
          <p:cNvPr id="7" name="b1-price"/>
          <p:cNvSpPr txBox="1"/>
          <p:nvPr/>
        </p:nvSpPr>
        <p:spPr>
          <a:xfrm>
            <a:off x="812800" y="3048000"/>
            <a:ext cx="5080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C15F3C"/>
                </a:solidFill>
                <a:latin typeface="MiSans"/>
                <a:ea typeface="MiSans"/>
              </a:rPr>
              <a:t>1 元 / 杯</a:t>
            </a:r>
            <a:r>
              <a:rPr lang="en-US" sz="1200" noProof="1">
                <a:solidFill>
                  <a:srgbClr val="7A7264"/>
                </a:solidFill>
                <a:latin typeface="MiSans"/>
                <a:ea typeface="MiSans"/>
              </a:rPr>
              <a:t>　建议终端计费</a:t>
            </a:r>
            <a:endParaRPr lang="en-US" sz="1600" noProof="1"/>
          </a:p>
        </p:txBody>
      </p:sp>
      <p:sp>
        <p:nvSpPr>
          <p:cNvPr id="8" name="b1-body"/>
          <p:cNvSpPr txBox="1"/>
          <p:nvPr/>
        </p:nvSpPr>
        <p:spPr>
          <a:xfrm>
            <a:off x="812800" y="3606800"/>
            <a:ext cx="50800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7A7264"/>
                </a:solidFill>
                <a:latin typeface="MiSans"/>
                <a:ea typeface="MiSans"/>
              </a:rPr>
              <a:t>鲜果昔现打现制，主打轻量鲜饮。设备零售价 20,800 元/台，押金 6,000 元，三年月租 420 元/月。</a:t>
            </a:r>
            <a:endParaRPr lang="en-US" sz="1200" noProof="1"/>
          </a:p>
        </p:txBody>
      </p:sp>
      <p:sp>
        <p:nvSpPr>
          <p:cNvPr id="9" name="b2-rule"/>
          <p:cNvSpPr/>
          <p:nvPr>
            <p:extLst>
              <p:ext uri="{F5677B7D-0D2A-4D9B-9A5C-6D8D7D0E5A5D}">
                <pptd:line encoding="base64url">eyJ2aWV3Qm94IjpbNDAwLDNdLCJwb2ludHMiOiIwLDEuNSA0MDAsMS41In0</pptd:line>
              </p:ext>
            </p:extLst>
          </p:nvPr>
        </p:nvSpPr>
        <p:spPr>
          <a:xfrm>
            <a:off x="6299200" y="2133600"/>
            <a:ext cx="5080000" cy="38100"/>
          </a:xfrm>
          <a:custGeom>
            <a:avLst/>
            <a:gdLst/>
            <a:ahLst/>
            <a:cxnLst/>
            <a:rect l="l" t="t" r="r" b="b"/>
            <a:pathLst>
              <a:path w="400" h="3">
                <a:moveTo>
                  <a:pt x="0" y="2"/>
                </a:moveTo>
                <a:lnTo>
                  <a:pt x="400" y="2"/>
                </a:lnTo>
              </a:path>
            </a:pathLst>
          </a:custGeom>
          <a:noFill/>
          <a:ln w="38100" cap="rnd">
            <a:solidFill>
              <a:srgbClr val="C15F3C"/>
            </a:solidFill>
            <a:round/>
          </a:ln>
        </p:spPr>
      </p:sp>
      <p:sp>
        <p:nvSpPr>
          <p:cNvPr id="10" name="b2-name"/>
          <p:cNvSpPr txBox="1"/>
          <p:nvPr/>
        </p:nvSpPr>
        <p:spPr>
          <a:xfrm>
            <a:off x="6299200" y="2362200"/>
            <a:ext cx="508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3000" noProof="1" b="1">
                <a:solidFill>
                  <a:srgbClr val="1E3B33"/>
                </a:solidFill>
                <a:latin typeface="MiSans"/>
                <a:ea typeface="MiSans"/>
              </a:rPr>
              <a:t>Hey Yogurt</a:t>
            </a:r>
            <a:r>
              <a:rPr lang="en-US" sz="1300" noProof="1">
                <a:solidFill>
                  <a:srgbClr val="C15F3C"/>
                </a:solidFill>
                <a:latin typeface="MiSans"/>
                <a:ea typeface="MiSans"/>
              </a:rPr>
              <a:t>　带奶箱机型 · 主推</a:t>
            </a:r>
            <a:endParaRPr lang="en-US" sz="1600" noProof="1"/>
          </a:p>
        </p:txBody>
      </p:sp>
      <p:sp>
        <p:nvSpPr>
          <p:cNvPr id="11" name="b2-price"/>
          <p:cNvSpPr txBox="1"/>
          <p:nvPr/>
        </p:nvSpPr>
        <p:spPr>
          <a:xfrm>
            <a:off x="6299200" y="3048000"/>
            <a:ext cx="5080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C15F3C"/>
                </a:solidFill>
                <a:latin typeface="MiSans"/>
                <a:ea typeface="MiSans"/>
              </a:rPr>
              <a:t>2 元 / 杯</a:t>
            </a:r>
            <a:r>
              <a:rPr lang="en-US" sz="1200" noProof="1">
                <a:solidFill>
                  <a:srgbClr val="7A7264"/>
                </a:solidFill>
                <a:latin typeface="MiSans"/>
                <a:ea typeface="MiSans"/>
              </a:rPr>
              <a:t>　建议终端计费</a:t>
            </a:r>
            <a:endParaRPr lang="en-US" sz="1600" noProof="1"/>
          </a:p>
        </p:txBody>
      </p:sp>
      <p:sp>
        <p:nvSpPr>
          <p:cNvPr id="12" name="b2-body"/>
          <p:cNvSpPr txBox="1"/>
          <p:nvPr/>
        </p:nvSpPr>
        <p:spPr>
          <a:xfrm>
            <a:off x="6299200" y="3606800"/>
            <a:ext cx="50800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7A7264"/>
                </a:solidFill>
                <a:latin typeface="MiSans"/>
                <a:ea typeface="MiSans"/>
              </a:rPr>
              <a:t>现制酸奶 / 奶昔系列，主打高价值鲜饮。设备零售价 31,300 元/台，押金 10,000 元，三年月租 600 元/月。</a:t>
            </a:r>
            <a:endParaRPr lang="en-US" sz="1200" noProof="1"/>
          </a:p>
        </p:txBody>
      </p:sp>
      <p:sp>
        <p:nvSpPr>
          <p:cNvPr id="13" name="mid-rule"/>
          <p:cNvSpPr/>
          <p:nvPr>
            <p:extLst>
              <p:ext uri="{F5677B7D-0D2A-4D9B-9A5C-6D8D7D0E5A5D}">
                <pptd:line encoding="base64url">eyJ2aWV3Qm94IjpbODMyLDJdLCJwb2ludHMiOiIwLDEgODMyLDEifQ</pptd:line>
              </p:ext>
            </p:extLst>
          </p:nvPr>
        </p:nvSpPr>
        <p:spPr>
          <a:xfrm>
            <a:off x="812800" y="4978400"/>
            <a:ext cx="10566400" cy="25400"/>
          </a:xfrm>
          <a:custGeom>
            <a:avLst/>
            <a:gdLst/>
            <a:ahLst/>
            <a:cxnLst/>
            <a:rect l="l" t="t" r="r" b="b"/>
            <a:pathLst>
              <a:path w="832" h="2">
                <a:moveTo>
                  <a:pt x="0" y="1"/>
                </a:moveTo>
                <a:lnTo>
                  <a:pt x="832" y="1"/>
                </a:lnTo>
              </a:path>
            </a:pathLst>
          </a:custGeom>
          <a:noFill/>
          <a:ln w="12700" cap="rnd">
            <a:solidFill>
              <a:srgbClr val="D9CFBB"/>
            </a:solidFill>
            <a:round/>
          </a:ln>
        </p:spPr>
      </p:sp>
      <p:sp>
        <p:nvSpPr>
          <p:cNvPr id="14" name="note1-icon"/>
          <p:cNvSpPr/>
          <p:nvPr>
            <p:extLst>
              <p:ext uri="{F5677B7D-0D2A-4D9B-9A5C-6D8D7D0E5A5D}">
                <pptd:icon encoding="base64url">eyJpY29uTmFtZSI6ImZhczpib3gtb3BlbiJ9</pptd:icon>
              </p:ext>
            </p:extLst>
          </p:nvPr>
        </p:nvSpPr>
        <p:spPr>
          <a:xfrm>
            <a:off x="812800" y="5283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560" y="237"/>
                </a:moveTo>
                <a:cubicBezTo>
                  <a:pt x="571" y="249"/>
                  <a:pt x="589" y="252"/>
                  <a:pt x="602" y="243"/>
                </a:cubicBezTo>
                <a:cubicBezTo>
                  <a:pt x="617" y="233"/>
                  <a:pt x="621" y="213"/>
                  <a:pt x="611" y="198"/>
                </a:cubicBezTo>
                <a:lnTo>
                  <a:pt x="563" y="126"/>
                </a:lnTo>
                <a:cubicBezTo>
                  <a:pt x="560" y="122"/>
                  <a:pt x="556" y="119"/>
                  <a:pt x="552" y="116"/>
                </a:cubicBezTo>
                <a:lnTo>
                  <a:pt x="351" y="5"/>
                </a:lnTo>
                <a:cubicBezTo>
                  <a:pt x="332" y="-6"/>
                  <a:pt x="309" y="-6"/>
                  <a:pt x="289" y="5"/>
                </a:cubicBezTo>
                <a:lnTo>
                  <a:pt x="89" y="116"/>
                </a:lnTo>
                <a:cubicBezTo>
                  <a:pt x="83" y="119"/>
                  <a:pt x="79" y="123"/>
                  <a:pt x="76" y="129"/>
                </a:cubicBezTo>
                <a:lnTo>
                  <a:pt x="28" y="219"/>
                </a:lnTo>
                <a:cubicBezTo>
                  <a:pt x="15" y="242"/>
                  <a:pt x="24" y="271"/>
                  <a:pt x="47" y="284"/>
                </a:cubicBezTo>
                <a:lnTo>
                  <a:pt x="80" y="301"/>
                </a:lnTo>
                <a:lnTo>
                  <a:pt x="80" y="355"/>
                </a:lnTo>
                <a:cubicBezTo>
                  <a:pt x="80" y="378"/>
                  <a:pt x="93" y="399"/>
                  <a:pt x="113" y="410"/>
                </a:cubicBezTo>
                <a:lnTo>
                  <a:pt x="289" y="510"/>
                </a:lnTo>
                <a:cubicBezTo>
                  <a:pt x="308" y="521"/>
                  <a:pt x="332" y="521"/>
                  <a:pt x="352" y="510"/>
                </a:cubicBezTo>
                <a:lnTo>
                  <a:pt x="528" y="410"/>
                </a:lnTo>
                <a:cubicBezTo>
                  <a:pt x="548" y="399"/>
                  <a:pt x="560" y="378"/>
                  <a:pt x="560" y="355"/>
                </a:cubicBezTo>
                <a:lnTo>
                  <a:pt x="560" y="237"/>
                </a:lnTo>
                <a:close/>
                <a:moveTo>
                  <a:pt x="320" y="227"/>
                </a:moveTo>
                <a:lnTo>
                  <a:pt x="170" y="144"/>
                </a:lnTo>
                <a:lnTo>
                  <a:pt x="320" y="61"/>
                </a:lnTo>
                <a:lnTo>
                  <a:pt x="470" y="144"/>
                </a:lnTo>
                <a:lnTo>
                  <a:pt x="320" y="227"/>
                </a:lnTo>
                <a:close/>
                <a:moveTo>
                  <a:pt x="279" y="278"/>
                </a:moveTo>
                <a:lnTo>
                  <a:pt x="257" y="324"/>
                </a:lnTo>
                <a:lnTo>
                  <a:pt x="92" y="235"/>
                </a:lnTo>
                <a:lnTo>
                  <a:pt x="117" y="188"/>
                </a:lnTo>
                <a:lnTo>
                  <a:pt x="279" y="278"/>
                </a:lnTo>
                <a:close/>
              </a:path>
            </a:pathLst>
          </a:custGeom>
          <a:solidFill>
            <a:srgbClr val="C15F3C"/>
          </a:solidFill>
          <a:ln>
            <a:noFill/>
          </a:ln>
        </p:spPr>
      </p:sp>
      <p:sp>
        <p:nvSpPr>
          <p:cNvPr id="15" name="note1"/>
          <p:cNvSpPr txBox="1"/>
          <p:nvPr/>
        </p:nvSpPr>
        <p:spPr>
          <a:xfrm>
            <a:off x="1193800" y="5232400"/>
            <a:ext cx="4572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7A7264"/>
                </a:solidFill>
                <a:latin typeface="MiSans"/>
                <a:ea typeface="MiSans"/>
              </a:rPr>
              <a:t>全套果杯 / 奶浆耗材按品牌标准从我司渠道供应，保证出品一致性与食品安全。</a:t>
            </a:r>
            <a:endParaRPr lang="en-US" sz="1150" noProof="1"/>
          </a:p>
        </p:txBody>
      </p:sp>
      <p:sp>
        <p:nvSpPr>
          <p:cNvPr id="16" name="note2-icon"/>
          <p:cNvSpPr/>
          <p:nvPr>
            <p:extLst>
              <p:ext uri="{F5677B7D-0D2A-4D9B-9A5C-6D8D7D0E5A5D}">
                <pptd:icon encoding="base64url">eyJpY29uTmFtZSI6ImZhczpoYW5kc2hha2UifQ</pptd:icon>
              </p:ext>
            </p:extLst>
          </p:nvPr>
        </p:nvSpPr>
        <p:spPr>
          <a:xfrm>
            <a:off x="6299200" y="5283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269" y="85"/>
                </a:moveTo>
                <a:lnTo>
                  <a:pt x="152" y="215"/>
                </a:lnTo>
                <a:cubicBezTo>
                  <a:pt x="148" y="220"/>
                  <a:pt x="148" y="228"/>
                  <a:pt x="153" y="233"/>
                </a:cubicBezTo>
                <a:cubicBezTo>
                  <a:pt x="183" y="263"/>
                  <a:pt x="233" y="263"/>
                  <a:pt x="263" y="233"/>
                </a:cubicBezTo>
                <a:lnTo>
                  <a:pt x="295" y="201"/>
                </a:lnTo>
                <a:cubicBezTo>
                  <a:pt x="299" y="197"/>
                  <a:pt x="305" y="194"/>
                  <a:pt x="310" y="194"/>
                </a:cubicBezTo>
                <a:cubicBezTo>
                  <a:pt x="317" y="193"/>
                  <a:pt x="324" y="196"/>
                  <a:pt x="329" y="201"/>
                </a:cubicBezTo>
                <a:lnTo>
                  <a:pt x="506" y="376"/>
                </a:lnTo>
                <a:lnTo>
                  <a:pt x="576" y="320"/>
                </a:lnTo>
                <a:lnTo>
                  <a:pt x="576" y="32"/>
                </a:lnTo>
                <a:lnTo>
                  <a:pt x="464" y="96"/>
                </a:lnTo>
                <a:lnTo>
                  <a:pt x="440" y="80"/>
                </a:lnTo>
                <a:cubicBezTo>
                  <a:pt x="424" y="70"/>
                  <a:pt x="406" y="64"/>
                  <a:pt x="387" y="64"/>
                </a:cubicBezTo>
                <a:lnTo>
                  <a:pt x="317" y="64"/>
                </a:lnTo>
                <a:cubicBezTo>
                  <a:pt x="315" y="64"/>
                  <a:pt x="314" y="64"/>
                  <a:pt x="313" y="64"/>
                </a:cubicBezTo>
                <a:cubicBezTo>
                  <a:pt x="296" y="65"/>
                  <a:pt x="280" y="73"/>
                  <a:pt x="269" y="85"/>
                </a:cubicBezTo>
                <a:close/>
                <a:moveTo>
                  <a:pt x="117" y="183"/>
                </a:moveTo>
                <a:lnTo>
                  <a:pt x="223" y="64"/>
                </a:lnTo>
                <a:lnTo>
                  <a:pt x="184" y="64"/>
                </a:lnTo>
                <a:cubicBezTo>
                  <a:pt x="158" y="64"/>
                  <a:pt x="134" y="74"/>
                  <a:pt x="116" y="92"/>
                </a:cubicBezTo>
                <a:lnTo>
                  <a:pt x="112" y="96"/>
                </a:lnTo>
                <a:lnTo>
                  <a:pt x="0" y="32"/>
                </a:lnTo>
                <a:lnTo>
                  <a:pt x="0" y="320"/>
                </a:lnTo>
                <a:lnTo>
                  <a:pt x="156" y="450"/>
                </a:lnTo>
                <a:cubicBezTo>
                  <a:pt x="179" y="470"/>
                  <a:pt x="208" y="480"/>
                  <a:pt x="238" y="480"/>
                </a:cubicBezTo>
                <a:lnTo>
                  <a:pt x="254" y="480"/>
                </a:lnTo>
                <a:lnTo>
                  <a:pt x="247" y="473"/>
                </a:lnTo>
                <a:cubicBezTo>
                  <a:pt x="238" y="464"/>
                  <a:pt x="238" y="448"/>
                  <a:pt x="247" y="439"/>
                </a:cubicBezTo>
                <a:cubicBezTo>
                  <a:pt x="256" y="430"/>
                  <a:pt x="272" y="430"/>
                  <a:pt x="281" y="439"/>
                </a:cubicBezTo>
                <a:lnTo>
                  <a:pt x="322" y="480"/>
                </a:lnTo>
                <a:lnTo>
                  <a:pt x="331" y="480"/>
                </a:lnTo>
                <a:cubicBezTo>
                  <a:pt x="350" y="480"/>
                  <a:pt x="369" y="476"/>
                  <a:pt x="386" y="468"/>
                </a:cubicBezTo>
                <a:lnTo>
                  <a:pt x="359" y="441"/>
                </a:lnTo>
                <a:cubicBezTo>
                  <a:pt x="350" y="432"/>
                  <a:pt x="350" y="416"/>
                  <a:pt x="359" y="407"/>
                </a:cubicBezTo>
                <a:cubicBezTo>
                  <a:pt x="368" y="398"/>
                  <a:pt x="384" y="398"/>
                  <a:pt x="393" y="407"/>
                </a:cubicBezTo>
                <a:lnTo>
                  <a:pt x="425" y="439"/>
                </a:lnTo>
                <a:lnTo>
                  <a:pt x="442" y="422"/>
                </a:lnTo>
                <a:cubicBezTo>
                  <a:pt x="451" y="413"/>
                  <a:pt x="454" y="400"/>
                  <a:pt x="450" y="389"/>
                </a:cubicBezTo>
                <a:lnTo>
                  <a:pt x="312" y="252"/>
                </a:lnTo>
                <a:lnTo>
                  <a:pt x="297" y="267"/>
                </a:lnTo>
                <a:cubicBezTo>
                  <a:pt x="248" y="316"/>
                  <a:pt x="168" y="316"/>
                  <a:pt x="119" y="267"/>
                </a:cubicBezTo>
                <a:cubicBezTo>
                  <a:pt x="96" y="244"/>
                  <a:pt x="95" y="207"/>
                  <a:pt x="117" y="183"/>
                </a:cubicBezTo>
                <a:close/>
              </a:path>
            </a:pathLst>
          </a:custGeom>
          <a:solidFill>
            <a:srgbClr val="C15F3C"/>
          </a:solidFill>
          <a:ln>
            <a:noFill/>
          </a:ln>
        </p:spPr>
      </p:sp>
      <p:sp>
        <p:nvSpPr>
          <p:cNvPr id="17" name="note2"/>
          <p:cNvSpPr txBox="1"/>
          <p:nvPr/>
        </p:nvSpPr>
        <p:spPr>
          <a:xfrm>
            <a:off x="6680200" y="5232400"/>
            <a:ext cx="4699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7A7264"/>
                </a:solidFill>
                <a:latin typeface="MiSans"/>
                <a:ea typeface="MiSans"/>
              </a:rPr>
              <a:t>品牌与耗材的终端利润由代理商与终端门店按协议共享，租期三年，期满设备归代理商所有。</a:t>
            </a:r>
            <a:endParaRPr lang="en-US" sz="1150" noProof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6EF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6096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 noProof="1" b="1" spc="300" kern="0">
                <a:solidFill>
                  <a:srgbClr val="C15F3C"/>
                </a:solidFill>
                <a:latin typeface="MiSans"/>
                <a:ea typeface="MiSans"/>
              </a:rPr>
              <a:t>05 ｜ 招商政策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914400"/>
            <a:ext cx="105664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5000"/>
              </a:lnSpc>
            </a:pPr>
            <a:r>
              <a:rPr lang="en-US" sz="2800" noProof="1" b="1">
                <a:solidFill>
                  <a:srgbClr val="1E3B33"/>
                </a:solidFill>
                <a:latin typeface="MiSans"/>
                <a:ea typeface="MiSans"/>
              </a:rPr>
              <a:t>招商区域：县区分级 + 达标后独家</a:t>
            </a:r>
            <a:endParaRPr lang="en-US" sz="2800" noProof="1"/>
          </a:p>
        </p:txBody>
      </p:sp>
      <p:graphicFrame>
        <p:nvGraphicFramePr>
          <p:cNvPr id="4" name="left-table"/>
          <p:cNvGraphicFramePr>
            <a:graphicFrameLocks noGrp="1"/>
          </p:cNvGraphicFramePr>
          <p:nvPr/>
        </p:nvGraphicFramePr>
        <p:xfrm>
          <a:off x="812800" y="1752600"/>
          <a:ext cx="5334000" cy="2286000"/>
        </p:xfrm>
        <a:graphic>
          <a:graphicData uri="http://schemas.openxmlformats.org/drawingml/2006/table">
            <a:tbl>
              <a:tblPr/>
              <a:tblGrid>
                <a:gridCol w="1600200"/>
                <a:gridCol w="1280160"/>
                <a:gridCol w="1173480"/>
                <a:gridCol w="1280160"/>
              </a:tblGrid>
              <a:tr h="45720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300" noProof="1" b="1">
                          <a:solidFill>
                            <a:srgbClr val="1E3B33"/>
                          </a:solidFill>
                          <a:latin typeface="Times New Roman"/>
                          <a:ea typeface="Times New Roman"/>
                        </a:rPr>
                        <a:t>县区级别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E3B33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300" noProof="1" b="1">
                          <a:solidFill>
                            <a:srgbClr val="1E3B33"/>
                          </a:solidFill>
                          <a:latin typeface="Times New Roman"/>
                          <a:ea typeface="Times New Roman"/>
                        </a:rPr>
                        <a:t>履约保证金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E3B33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300" noProof="1" b="1">
                          <a:solidFill>
                            <a:srgbClr val="1E3B33"/>
                          </a:solidFill>
                          <a:latin typeface="Times New Roman"/>
                          <a:ea typeface="Times New Roman"/>
                        </a:rPr>
                        <a:t>首批台数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E3B33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300" noProof="1" b="1">
                          <a:solidFill>
                            <a:srgbClr val="1E3B33"/>
                          </a:solidFill>
                          <a:latin typeface="Times New Roman"/>
                          <a:ea typeface="Times New Roman"/>
                        </a:rPr>
                        <a:t>适用对象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E3B33"/>
                      </a:solidFill>
                    </a:lnB>
                    <a:noFill/>
                  </a:tcPr>
                </a:tc>
              </a:tr>
              <a:tr h="91440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 b="1">
                          <a:solidFill>
                            <a:srgbClr val="2B2822"/>
                          </a:solidFill>
                          <a:latin typeface="Times New Roman"/>
                          <a:ea typeface="Times New Roman"/>
                        </a:rPr>
                        <a:t>一级县区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>
                          <a:solidFill>
                            <a:srgbClr val="2B2822"/>
                          </a:solidFill>
                          <a:latin typeface="Times New Roman"/>
                          <a:ea typeface="Times New Roman"/>
                        </a:rPr>
                        <a:t>10 万元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>
                          <a:solidFill>
                            <a:srgbClr val="2B2822"/>
                          </a:solidFill>
                          <a:latin typeface="Times New Roman"/>
                          <a:ea typeface="Times New Roman"/>
                        </a:rPr>
                        <a:t>10 台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>
                          <a:solidFill>
                            <a:srgbClr val="2B2822"/>
                          </a:solidFill>
                          <a:latin typeface="Times New Roman"/>
                          <a:ea typeface="Times New Roman"/>
                        </a:rPr>
                        <a:t>人口密集、终端基础好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</a:tr>
              <a:tr h="91440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 b="1">
                          <a:solidFill>
                            <a:srgbClr val="2B2822"/>
                          </a:solidFill>
                          <a:latin typeface="Times New Roman"/>
                          <a:ea typeface="Times New Roman"/>
                        </a:rPr>
                        <a:t>二级县区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>
                          <a:solidFill>
                            <a:srgbClr val="2B2822"/>
                          </a:solidFill>
                          <a:latin typeface="Times New Roman"/>
                          <a:ea typeface="Times New Roman"/>
                        </a:rPr>
                        <a:t>6 万元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>
                          <a:solidFill>
                            <a:srgbClr val="2B2822"/>
                          </a:solidFill>
                          <a:latin typeface="Times New Roman"/>
                          <a:ea typeface="Times New Roman"/>
                        </a:rPr>
                        <a:t>6 台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>
                          <a:solidFill>
                            <a:srgbClr val="2B2822"/>
                          </a:solidFill>
                          <a:latin typeface="Times New Roman"/>
                          <a:ea typeface="Times New Roman"/>
                        </a:rPr>
                        <a:t>终端基础较薄、需培育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left-note"/>
          <p:cNvSpPr txBox="1"/>
          <p:nvPr/>
        </p:nvSpPr>
        <p:spPr>
          <a:xfrm>
            <a:off x="812800" y="4191000"/>
            <a:ext cx="5334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7A7264"/>
                </a:solidFill>
                <a:latin typeface="MiSans"/>
                <a:ea typeface="MiSans"/>
              </a:rPr>
              <a:t>· 以县区为单位招商，全国县级行政区划均开放申请，全部免加盟费；</a:t>
            </a:r>
            <a:endParaRPr lang="en-US" sz="1100" noProof="1"/>
          </a:p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7A7264"/>
                </a:solidFill>
                <a:latin typeface="MiSans"/>
                <a:ea typeface="MiSans"/>
              </a:rPr>
              <a:t>· 保证金为履约保证金，期满且无违约按约定退还，不抵扣设备款；</a:t>
            </a:r>
            <a:endParaRPr lang="en-US" sz="1100" noProof="1"/>
          </a:p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7A7264"/>
                </a:solidFill>
                <a:latin typeface="MiSans"/>
                <a:ea typeface="MiSans"/>
              </a:rPr>
              <a:t>· 二级县区达标可申请升级一级（补足差额、增配设备）。</a:t>
            </a:r>
            <a:endParaRPr lang="en-US" sz="1100" noProof="1"/>
          </a:p>
        </p:txBody>
      </p:sp>
      <p:sp>
        <p:nvSpPr>
          <p:cNvPr id="6" name="right-title"/>
          <p:cNvSpPr txBox="1"/>
          <p:nvPr/>
        </p:nvSpPr>
        <p:spPr>
          <a:xfrm>
            <a:off x="6705600" y="1752600"/>
            <a:ext cx="46736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1E3B33"/>
                </a:solidFill>
                <a:latin typeface="MiSans"/>
                <a:ea typeface="MiSans"/>
              </a:rPr>
              <a:t>县域独家，不等于永久独家</a:t>
            </a:r>
            <a:endParaRPr lang="en-US" sz="1500" noProof="1"/>
          </a:p>
        </p:txBody>
      </p:sp>
      <p:sp>
        <p:nvSpPr>
          <p:cNvPr id="7" name="step1-dot"/>
          <p:cNvSpPr/>
          <p:nvPr/>
        </p:nvSpPr>
        <p:spPr>
          <a:xfrm>
            <a:off x="6705600" y="2311400"/>
            <a:ext cx="127000" cy="127000"/>
          </a:xfrm>
          <a:prstGeom prst="ellipse">
            <a:avLst/>
          </a:prstGeom>
          <a:solidFill>
            <a:srgbClr val="C15F3C"/>
          </a:solidFill>
          <a:ln>
            <a:noFill/>
          </a:ln>
        </p:spPr>
      </p:sp>
      <p:sp>
        <p:nvSpPr>
          <p:cNvPr id="8" name="step1"/>
          <p:cNvSpPr txBox="1"/>
          <p:nvPr/>
        </p:nvSpPr>
        <p:spPr>
          <a:xfrm>
            <a:off x="7010400" y="2209800"/>
            <a:ext cx="43688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300" noProof="1" b="1">
                <a:solidFill>
                  <a:srgbClr val="1E3B33"/>
                </a:solidFill>
                <a:latin typeface="MiSans"/>
                <a:ea typeface="MiSans"/>
              </a:rPr>
              <a:t>试点期 ｜ 30 天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1100" noProof="1">
                <a:solidFill>
                  <a:srgbClr val="7A7264"/>
                </a:solidFill>
                <a:latin typeface="MiSans"/>
                <a:ea typeface="MiSans"/>
              </a:rPr>
              <a:t>完成培训、提交点位池，非独家试点 10 台</a:t>
            </a:r>
            <a:endParaRPr lang="en-US" sz="1600" noProof="1"/>
          </a:p>
        </p:txBody>
      </p:sp>
      <p:sp>
        <p:nvSpPr>
          <p:cNvPr id="9" name="step-line1"/>
          <p:cNvSpPr/>
          <p:nvPr>
            <p:extLst>
              <p:ext uri="{F5677B7D-0D2A-4D9B-9A5C-6D8D7D0E5A5D}">
                <pptd:line encoding="base64url">eyJ2aWV3Qm94IjpbMSwyMl0sInBvaW50cyI6IjAuNSwwIDAuNSwyMiJ9</pptd:line>
              </p:ext>
            </p:extLst>
          </p:nvPr>
        </p:nvSpPr>
        <p:spPr>
          <a:xfrm>
            <a:off x="6769100" y="2489200"/>
            <a:ext cx="12700" cy="279400"/>
          </a:xfrm>
          <a:custGeom>
            <a:avLst/>
            <a:gdLst/>
            <a:ahLst/>
            <a:cxnLst/>
            <a:rect l="l" t="t" r="r" b="b"/>
            <a:pathLst>
              <a:path w="1" h="22">
                <a:moveTo>
                  <a:pt x="1" y="0"/>
                </a:moveTo>
                <a:lnTo>
                  <a:pt x="1" y="22"/>
                </a:lnTo>
              </a:path>
            </a:pathLst>
          </a:custGeom>
          <a:noFill/>
          <a:ln w="12700" cap="rnd">
            <a:solidFill>
              <a:srgbClr val="D9CFBB"/>
            </a:solidFill>
            <a:round/>
          </a:ln>
        </p:spPr>
      </p:sp>
      <p:sp>
        <p:nvSpPr>
          <p:cNvPr id="10" name="step2-dot"/>
          <p:cNvSpPr/>
          <p:nvPr/>
        </p:nvSpPr>
        <p:spPr>
          <a:xfrm>
            <a:off x="6705600" y="2870200"/>
            <a:ext cx="127000" cy="127000"/>
          </a:xfrm>
          <a:prstGeom prst="ellipse">
            <a:avLst/>
          </a:prstGeom>
          <a:solidFill>
            <a:srgbClr val="C15F3C"/>
          </a:solidFill>
          <a:ln>
            <a:noFill/>
          </a:ln>
        </p:spPr>
      </p:sp>
      <p:sp>
        <p:nvSpPr>
          <p:cNvPr id="11" name="step2"/>
          <p:cNvSpPr txBox="1"/>
          <p:nvPr/>
        </p:nvSpPr>
        <p:spPr>
          <a:xfrm>
            <a:off x="7010400" y="2768600"/>
            <a:ext cx="43688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300" noProof="1" b="1">
                <a:solidFill>
                  <a:srgbClr val="1E3B33"/>
                </a:solidFill>
                <a:latin typeface="MiSans"/>
                <a:ea typeface="MiSans"/>
              </a:rPr>
              <a:t>试运营期 ｜ 60–90 天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1100" noProof="1">
                <a:solidFill>
                  <a:srgbClr val="7A7264"/>
                </a:solidFill>
                <a:latin typeface="MiSans"/>
                <a:ea typeface="MiSans"/>
              </a:rPr>
              <a:t>活跃率与有效杯量达标后，授予临时区域保护</a:t>
            </a:r>
            <a:endParaRPr lang="en-US" sz="1600" noProof="1"/>
          </a:p>
        </p:txBody>
      </p:sp>
      <p:sp>
        <p:nvSpPr>
          <p:cNvPr id="12" name="step-line2"/>
          <p:cNvSpPr/>
          <p:nvPr>
            <p:extLst>
              <p:ext uri="{F5677B7D-0D2A-4D9B-9A5C-6D8D7D0E5A5D}">
                <pptd:line encoding="base64url">eyJ2aWV3Qm94IjpbMSwyMl0sInBvaW50cyI6IjAuNSwwIDAuNSwyMiJ9</pptd:line>
              </p:ext>
            </p:extLst>
          </p:nvPr>
        </p:nvSpPr>
        <p:spPr>
          <a:xfrm>
            <a:off x="6769100" y="3048000"/>
            <a:ext cx="12700" cy="279400"/>
          </a:xfrm>
          <a:custGeom>
            <a:avLst/>
            <a:gdLst/>
            <a:ahLst/>
            <a:cxnLst/>
            <a:rect l="l" t="t" r="r" b="b"/>
            <a:pathLst>
              <a:path w="1" h="22">
                <a:moveTo>
                  <a:pt x="1" y="0"/>
                </a:moveTo>
                <a:lnTo>
                  <a:pt x="1" y="22"/>
                </a:lnTo>
              </a:path>
            </a:pathLst>
          </a:custGeom>
          <a:noFill/>
          <a:ln w="12700" cap="rnd">
            <a:solidFill>
              <a:srgbClr val="D9CFBB"/>
            </a:solidFill>
            <a:round/>
          </a:ln>
        </p:spPr>
      </p:sp>
      <p:sp>
        <p:nvSpPr>
          <p:cNvPr id="13" name="step3-dot"/>
          <p:cNvSpPr/>
          <p:nvPr/>
        </p:nvSpPr>
        <p:spPr>
          <a:xfrm>
            <a:off x="6705600" y="3429000"/>
            <a:ext cx="127000" cy="127000"/>
          </a:xfrm>
          <a:prstGeom prst="ellipse">
            <a:avLst/>
          </a:prstGeom>
          <a:solidFill>
            <a:srgbClr val="C15F3C"/>
          </a:solidFill>
          <a:ln>
            <a:noFill/>
          </a:ln>
        </p:spPr>
      </p:sp>
      <p:sp>
        <p:nvSpPr>
          <p:cNvPr id="14" name="step3"/>
          <p:cNvSpPr txBox="1"/>
          <p:nvPr/>
        </p:nvSpPr>
        <p:spPr>
          <a:xfrm>
            <a:off x="7010400" y="3327400"/>
            <a:ext cx="43688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300" noProof="1" b="1">
                <a:solidFill>
                  <a:srgbClr val="1E3B33"/>
                </a:solidFill>
                <a:latin typeface="MiSans"/>
                <a:ea typeface="MiSans"/>
              </a:rPr>
              <a:t>正式保护 ｜ 12 个月滚动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1100" noProof="1">
                <a:solidFill>
                  <a:srgbClr val="7A7264"/>
                </a:solidFill>
                <a:latin typeface="MiSans"/>
                <a:ea typeface="MiSans"/>
              </a:rPr>
              <a:t>活跃率、回款率、SLA 持续达标，授予县域独家、线索归属与阶梯激励</a:t>
            </a:r>
            <a:endParaRPr lang="en-US" sz="1600" noProof="1"/>
          </a:p>
        </p:txBody>
      </p:sp>
      <p:sp>
        <p:nvSpPr>
          <p:cNvPr id="15" name="step-line3"/>
          <p:cNvSpPr/>
          <p:nvPr>
            <p:extLst>
              <p:ext uri="{F5677B7D-0D2A-4D9B-9A5C-6D8D7D0E5A5D}">
                <pptd:line encoding="base64url">eyJ2aWV3Qm94IjpbMSwyMl0sInBvaW50cyI6IjAuNSwwIDAuNSwyMiJ9</pptd:line>
              </p:ext>
            </p:extLst>
          </p:nvPr>
        </p:nvSpPr>
        <p:spPr>
          <a:xfrm>
            <a:off x="6769100" y="3606800"/>
            <a:ext cx="12700" cy="279400"/>
          </a:xfrm>
          <a:custGeom>
            <a:avLst/>
            <a:gdLst/>
            <a:ahLst/>
            <a:cxnLst/>
            <a:rect l="l" t="t" r="r" b="b"/>
            <a:pathLst>
              <a:path w="1" h="22">
                <a:moveTo>
                  <a:pt x="1" y="0"/>
                </a:moveTo>
                <a:lnTo>
                  <a:pt x="1" y="22"/>
                </a:lnTo>
              </a:path>
            </a:pathLst>
          </a:custGeom>
          <a:noFill/>
          <a:ln w="12700" cap="rnd">
            <a:solidFill>
              <a:srgbClr val="D9CFBB"/>
            </a:solidFill>
            <a:round/>
          </a:ln>
        </p:spPr>
      </p:sp>
      <p:sp>
        <p:nvSpPr>
          <p:cNvPr id="16" name="step4-dot"/>
          <p:cNvSpPr/>
          <p:nvPr/>
        </p:nvSpPr>
        <p:spPr>
          <a:xfrm>
            <a:off x="6705600" y="3987800"/>
            <a:ext cx="127000" cy="127000"/>
          </a:xfrm>
          <a:prstGeom prst="ellipse">
            <a:avLst/>
          </a:prstGeom>
          <a:solidFill>
            <a:srgbClr val="7A7264"/>
          </a:solidFill>
          <a:ln>
            <a:noFill/>
          </a:ln>
        </p:spPr>
      </p:sp>
      <p:sp>
        <p:nvSpPr>
          <p:cNvPr id="17" name="step4"/>
          <p:cNvSpPr txBox="1"/>
          <p:nvPr/>
        </p:nvSpPr>
        <p:spPr>
          <a:xfrm>
            <a:off x="7010400" y="3886200"/>
            <a:ext cx="43688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300" noProof="1" b="1">
                <a:solidFill>
                  <a:srgbClr val="7A7264"/>
                </a:solidFill>
                <a:latin typeface="MiSans"/>
                <a:ea typeface="MiSans"/>
              </a:rPr>
              <a:t>整改 / 退出 ｜ 30–60 天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1100" noProof="1">
                <a:solidFill>
                  <a:srgbClr val="7A7264"/>
                </a:solidFill>
                <a:latin typeface="MiSans"/>
                <a:ea typeface="MiSans"/>
              </a:rPr>
              <a:t>连续不达标或重大违约，取消保护、回收设备并办理客户移交</a:t>
            </a:r>
            <a:endParaRPr lang="en-US" sz="1600" noProof="1"/>
          </a:p>
        </p:txBody>
      </p:sp>
      <p:sp>
        <p:nvSpPr>
          <p:cNvPr id="18" name="bottom-rule"/>
          <p:cNvSpPr/>
          <p:nvPr>
            <p:extLst>
              <p:ext uri="{F5677B7D-0D2A-4D9B-9A5C-6D8D7D0E5A5D}">
                <pptd:line encoding="base64url">eyJ2aWV3Qm94IjpbODMyLDJdLCJwb2ludHMiOiIwLDEgODMyLDEifQ</pptd:line>
              </p:ext>
            </p:extLst>
          </p:nvPr>
        </p:nvSpPr>
        <p:spPr>
          <a:xfrm>
            <a:off x="812800" y="5384800"/>
            <a:ext cx="10566400" cy="25400"/>
          </a:xfrm>
          <a:custGeom>
            <a:avLst/>
            <a:gdLst/>
            <a:ahLst/>
            <a:cxnLst/>
            <a:rect l="l" t="t" r="r" b="b"/>
            <a:pathLst>
              <a:path w="832" h="2">
                <a:moveTo>
                  <a:pt x="0" y="1"/>
                </a:moveTo>
                <a:lnTo>
                  <a:pt x="832" y="1"/>
                </a:lnTo>
              </a:path>
            </a:pathLst>
          </a:custGeom>
          <a:noFill/>
          <a:ln w="19050" cap="rnd">
            <a:solidFill>
              <a:srgbClr val="1E3B33"/>
            </a:solidFill>
            <a:round/>
          </a:ln>
        </p:spPr>
      </p:sp>
      <p:sp>
        <p:nvSpPr>
          <p:cNvPr id="19" name="bottom-note"/>
          <p:cNvSpPr txBox="1"/>
          <p:nvPr/>
        </p:nvSpPr>
        <p:spPr>
          <a:xfrm>
            <a:off x="812800" y="5613400"/>
            <a:ext cx="105664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2B2822"/>
                </a:solidFill>
                <a:latin typeface="MiSans"/>
                <a:ea typeface="MiSans"/>
              </a:rPr>
              <a:t>区域保护与</a:t>
            </a:r>
            <a:r>
              <a:rPr lang="en-US" sz="1300" noProof="1" b="1">
                <a:solidFill>
                  <a:srgbClr val="C15F3C"/>
                </a:solidFill>
                <a:latin typeface="MiSans"/>
                <a:ea typeface="MiSans"/>
              </a:rPr>
              <a:t>活跃机数、有效杯量、回款率、服务 SLA</a:t>
            </a:r>
            <a:r>
              <a:rPr lang="en-US" sz="1300" noProof="1">
                <a:solidFill>
                  <a:srgbClr val="2B2822"/>
                </a:solidFill>
                <a:latin typeface="MiSans"/>
                <a:ea typeface="MiSans"/>
              </a:rPr>
              <a:t> 绑定——保护认真经营的代理商，也避免空白市场被低质量代理锁死。</a:t>
            </a:r>
            <a:endParaRPr lang="en-US" sz="1300" noProof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6EF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6096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 noProof="1" b="1" spc="300" kern="0">
                <a:solidFill>
                  <a:srgbClr val="C15F3C"/>
                </a:solidFill>
                <a:latin typeface="MiSans"/>
                <a:ea typeface="MiSans"/>
              </a:rPr>
              <a:t>05 ｜ 招商政策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914400"/>
            <a:ext cx="105664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5000"/>
              </a:lnSpc>
            </a:pPr>
            <a:r>
              <a:rPr lang="en-US" sz="2800" noProof="1" b="1">
                <a:solidFill>
                  <a:srgbClr val="1E3B33"/>
                </a:solidFill>
                <a:latin typeface="MiSans"/>
                <a:ea typeface="MiSans"/>
              </a:rPr>
              <a:t>为什么只做租赁：解决现金流，而不是测试生意</a:t>
            </a:r>
            <a:endParaRPr lang="en-US" sz="2800" noProof="1"/>
          </a:p>
        </p:txBody>
      </p:sp>
      <p:sp>
        <p:nvSpPr>
          <p:cNvPr id="4" name="left-title"/>
          <p:cNvSpPr txBox="1"/>
          <p:nvPr/>
        </p:nvSpPr>
        <p:spPr>
          <a:xfrm>
            <a:off x="812800" y="1727200"/>
            <a:ext cx="5080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7A7264"/>
                </a:solidFill>
                <a:latin typeface="MiSans"/>
                <a:ea typeface="MiSans"/>
              </a:rPr>
              <a:t>租赁的第一个原因（我们不做）</a:t>
            </a:r>
            <a:endParaRPr lang="en-US" sz="1500" noProof="1"/>
          </a:p>
        </p:txBody>
      </p:sp>
      <p:sp>
        <p:nvSpPr>
          <p:cNvPr id="5" name="left-body"/>
          <p:cNvSpPr txBox="1"/>
          <p:nvPr/>
        </p:nvSpPr>
        <p:spPr>
          <a:xfrm>
            <a:off x="812800" y="2133600"/>
            <a:ext cx="5080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 strike="sngStrike">
                <a:solidFill>
                  <a:srgbClr val="7A7264"/>
                </a:solidFill>
                <a:latin typeface="MiSans"/>
                <a:ea typeface="MiSans"/>
              </a:rPr>
              <a:t>「测试生意」</a:t>
            </a:r>
            <a:r>
              <a:rPr lang="en-US" sz="1200" noProof="1">
                <a:solidFill>
                  <a:srgbClr val="7A7264"/>
                </a:solidFill>
                <a:latin typeface="MiSans"/>
                <a:ea typeface="MiSans"/>
              </a:rPr>
              <a:t>——不与抱着试一试心态的客户合作，只跟专业渠道客户共建县域网络。</a:t>
            </a:r>
            <a:endParaRPr lang="en-US" sz="1200" noProof="1"/>
          </a:p>
        </p:txBody>
      </p:sp>
      <p:sp>
        <p:nvSpPr>
          <p:cNvPr id="6" name="left-rule"/>
          <p:cNvSpPr/>
          <p:nvPr>
            <p:extLst>
              <p:ext uri="{F5677B7D-0D2A-4D9B-9A5C-6D8D7D0E5A5D}">
                <pptd:line encoding="base64url">eyJ2aWV3Qm94IjpbNDAwLDJdLCJwb2ludHMiOiIwLDEgNDAwLDEifQ</pptd:line>
              </p:ext>
            </p:extLst>
          </p:nvPr>
        </p:nvSpPr>
        <p:spPr>
          <a:xfrm>
            <a:off x="812800" y="3124200"/>
            <a:ext cx="5080000" cy="25400"/>
          </a:xfrm>
          <a:custGeom>
            <a:avLst/>
            <a:gdLst/>
            <a:ahLst/>
            <a:cxnLst/>
            <a:rect l="l" t="t" r="r" b="b"/>
            <a:pathLst>
              <a:path w="400" h="2">
                <a:moveTo>
                  <a:pt x="0" y="1"/>
                </a:moveTo>
                <a:lnTo>
                  <a:pt x="400" y="1"/>
                </a:lnTo>
              </a:path>
            </a:pathLst>
          </a:custGeom>
          <a:noFill/>
          <a:ln w="12700" cap="rnd">
            <a:solidFill>
              <a:srgbClr val="D9CFBB"/>
            </a:solidFill>
            <a:round/>
          </a:ln>
        </p:spPr>
      </p:sp>
      <p:sp>
        <p:nvSpPr>
          <p:cNvPr id="7" name="right-title"/>
          <p:cNvSpPr txBox="1"/>
          <p:nvPr/>
        </p:nvSpPr>
        <p:spPr>
          <a:xfrm>
            <a:off x="812800" y="3403600"/>
            <a:ext cx="5842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C15F3C"/>
                </a:solidFill>
                <a:latin typeface="MiSans"/>
                <a:ea typeface="MiSans"/>
              </a:rPr>
              <a:t>租赁的第二个原因（我们只做这个）</a:t>
            </a:r>
            <a:endParaRPr lang="en-US" sz="1500" noProof="1"/>
          </a:p>
        </p:txBody>
      </p:sp>
      <p:sp>
        <p:nvSpPr>
          <p:cNvPr id="8" name="right-body"/>
          <p:cNvSpPr txBox="1"/>
          <p:nvPr/>
        </p:nvSpPr>
        <p:spPr>
          <a:xfrm>
            <a:off x="812800" y="3810000"/>
            <a:ext cx="58420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5000"/>
              </a:lnSpc>
            </a:pPr>
            <a:r>
              <a:rPr lang="en-US" sz="1350" noProof="1" b="1">
                <a:solidFill>
                  <a:srgbClr val="2B2822"/>
                </a:solidFill>
                <a:latin typeface="MiSans"/>
                <a:ea typeface="MiSans"/>
              </a:rPr>
              <a:t>解决现金流压力。</a:t>
            </a:r>
            <a:r>
              <a:rPr lang="en-US" sz="1350" noProof="1">
                <a:solidFill>
                  <a:srgbClr val="2B2822"/>
                </a:solidFill>
                <a:latin typeface="MiSans"/>
                <a:ea typeface="MiSans"/>
              </a:rPr>
              <a:t>代理商自有资金买设备，可能只能买 10 台；有了这套方案，首批即可上 10 台，后续按销量持续增配——</a:t>
            </a:r>
            <a:r>
              <a:rPr lang="en-US" sz="1350" noProof="1" b="1">
                <a:solidFill>
                  <a:srgbClr val="C15F3C"/>
                </a:solidFill>
                <a:latin typeface="MiSans"/>
                <a:ea typeface="MiSans"/>
              </a:rPr>
              <a:t>只要终端有销量，就能无限复制点位</a:t>
            </a:r>
            <a:r>
              <a:rPr lang="en-US" sz="1350" noProof="1">
                <a:solidFill>
                  <a:srgbClr val="2B2822"/>
                </a:solidFill>
                <a:latin typeface="MiSans"/>
                <a:ea typeface="MiSans"/>
              </a:rPr>
              <a:t>，没有一次性大额设备资金压力。</a:t>
            </a:r>
            <a:endParaRPr lang="en-US" sz="1350" noProof="1"/>
          </a:p>
        </p:txBody>
      </p:sp>
      <p:sp>
        <p:nvSpPr>
          <p:cNvPr id="9" name="right-col-rule"/>
          <p:cNvSpPr/>
          <p:nvPr>
            <p:extLst>
              <p:ext uri="{F5677B7D-0D2A-4D9B-9A5C-6D8D7D0E5A5D}">
                <pptd:line encoding="base64url">eyJ2aWV3Qm94IjpbMSwyODBdLCJwb2ludHMiOiIwLjUsMCAwLjUsMjgwIn0</pptd:line>
              </p:ext>
            </p:extLst>
          </p:nvPr>
        </p:nvSpPr>
        <p:spPr>
          <a:xfrm>
            <a:off x="7061200" y="1727200"/>
            <a:ext cx="12700" cy="3556000"/>
          </a:xfrm>
          <a:custGeom>
            <a:avLst/>
            <a:gdLst/>
            <a:ahLst/>
            <a:cxnLst/>
            <a:rect l="l" t="t" r="r" b="b"/>
            <a:pathLst>
              <a:path w="1" h="280">
                <a:moveTo>
                  <a:pt x="1" y="0"/>
                </a:moveTo>
                <a:lnTo>
                  <a:pt x="1" y="280"/>
                </a:lnTo>
              </a:path>
            </a:pathLst>
          </a:custGeom>
          <a:noFill/>
          <a:ln w="12700" cap="rnd">
            <a:solidFill>
              <a:srgbClr val="D9CFBB"/>
            </a:solidFill>
            <a:round/>
          </a:ln>
        </p:spPr>
      </p:sp>
      <p:sp>
        <p:nvSpPr>
          <p:cNvPr id="10" name="fin-icon"/>
          <p:cNvSpPr/>
          <p:nvPr>
            <p:extLst>
              <p:ext uri="{F5677B7D-0D2A-4D9B-9A5C-6D8D7D0E5A5D}">
                <pptd:icon encoding="base64url">eyJpY29uTmFtZSI6ImZhczpidWlsZGluZy1jb2x1bW5zIn0</pptd:icon>
              </p:ext>
            </p:extLst>
          </p:nvPr>
        </p:nvSpPr>
        <p:spPr>
          <a:xfrm>
            <a:off x="7416800" y="1778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72" y="20"/>
                </a:moveTo>
                <a:cubicBezTo>
                  <a:pt x="262" y="15"/>
                  <a:pt x="250" y="15"/>
                  <a:pt x="240" y="20"/>
                </a:cubicBezTo>
                <a:lnTo>
                  <a:pt x="16" y="148"/>
                </a:lnTo>
                <a:cubicBezTo>
                  <a:pt x="3" y="155"/>
                  <a:pt x="-3" y="170"/>
                  <a:pt x="1" y="184"/>
                </a:cubicBezTo>
                <a:cubicBezTo>
                  <a:pt x="5" y="198"/>
                  <a:pt x="18" y="208"/>
                  <a:pt x="32" y="208"/>
                </a:cubicBezTo>
                <a:lnTo>
                  <a:pt x="64" y="208"/>
                </a:lnTo>
                <a:lnTo>
                  <a:pt x="64" y="416"/>
                </a:lnTo>
                <a:lnTo>
                  <a:pt x="64" y="416"/>
                </a:lnTo>
                <a:lnTo>
                  <a:pt x="13" y="454"/>
                </a:lnTo>
                <a:cubicBezTo>
                  <a:pt x="5" y="460"/>
                  <a:pt x="0" y="470"/>
                  <a:pt x="0" y="480"/>
                </a:cubicBezTo>
                <a:cubicBezTo>
                  <a:pt x="0" y="498"/>
                  <a:pt x="14" y="512"/>
                  <a:pt x="32" y="512"/>
                </a:cubicBezTo>
                <a:lnTo>
                  <a:pt x="480" y="512"/>
                </a:lnTo>
                <a:cubicBezTo>
                  <a:pt x="498" y="512"/>
                  <a:pt x="512" y="498"/>
                  <a:pt x="512" y="480"/>
                </a:cubicBezTo>
                <a:cubicBezTo>
                  <a:pt x="512" y="470"/>
                  <a:pt x="507" y="460"/>
                  <a:pt x="499" y="454"/>
                </a:cubicBezTo>
                <a:lnTo>
                  <a:pt x="448" y="416"/>
                </a:lnTo>
                <a:lnTo>
                  <a:pt x="448" y="208"/>
                </a:lnTo>
                <a:lnTo>
                  <a:pt x="480" y="208"/>
                </a:lnTo>
                <a:cubicBezTo>
                  <a:pt x="495" y="208"/>
                  <a:pt x="507" y="198"/>
                  <a:pt x="511" y="184"/>
                </a:cubicBezTo>
                <a:cubicBezTo>
                  <a:pt x="515" y="170"/>
                  <a:pt x="508" y="155"/>
                  <a:pt x="496" y="148"/>
                </a:cubicBezTo>
                <a:lnTo>
                  <a:pt x="272" y="20"/>
                </a:lnTo>
                <a:close/>
                <a:moveTo>
                  <a:pt x="400" y="208"/>
                </a:moveTo>
                <a:lnTo>
                  <a:pt x="400" y="416"/>
                </a:lnTo>
                <a:lnTo>
                  <a:pt x="336" y="416"/>
                </a:lnTo>
                <a:lnTo>
                  <a:pt x="336" y="208"/>
                </a:lnTo>
                <a:lnTo>
                  <a:pt x="400" y="208"/>
                </a:lnTo>
                <a:close/>
                <a:moveTo>
                  <a:pt x="288" y="208"/>
                </a:moveTo>
                <a:lnTo>
                  <a:pt x="288" y="416"/>
                </a:lnTo>
                <a:lnTo>
                  <a:pt x="224" y="416"/>
                </a:lnTo>
                <a:lnTo>
                  <a:pt x="224" y="208"/>
                </a:lnTo>
                <a:lnTo>
                  <a:pt x="288" y="208"/>
                </a:lnTo>
                <a:close/>
                <a:moveTo>
                  <a:pt x="176" y="208"/>
                </a:moveTo>
                <a:lnTo>
                  <a:pt x="176" y="416"/>
                </a:lnTo>
                <a:lnTo>
                  <a:pt x="112" y="416"/>
                </a:lnTo>
                <a:lnTo>
                  <a:pt x="112" y="208"/>
                </a:lnTo>
                <a:lnTo>
                  <a:pt x="176" y="208"/>
                </a:lnTo>
                <a:close/>
                <a:moveTo>
                  <a:pt x="256" y="96"/>
                </a:moveTo>
                <a:cubicBezTo>
                  <a:pt x="274" y="96"/>
                  <a:pt x="288" y="110"/>
                  <a:pt x="288" y="128"/>
                </a:cubicBezTo>
                <a:cubicBezTo>
                  <a:pt x="288" y="146"/>
                  <a:pt x="274" y="160"/>
                  <a:pt x="256" y="160"/>
                </a:cubicBezTo>
                <a:cubicBezTo>
                  <a:pt x="238" y="160"/>
                  <a:pt x="224" y="146"/>
                  <a:pt x="224" y="128"/>
                </a:cubicBezTo>
                <a:cubicBezTo>
                  <a:pt x="224" y="110"/>
                  <a:pt x="238" y="96"/>
                  <a:pt x="256" y="96"/>
                </a:cubicBezTo>
                <a:close/>
              </a:path>
            </a:pathLst>
          </a:custGeom>
          <a:solidFill>
            <a:srgbClr val="C15F3C"/>
          </a:solidFill>
          <a:ln>
            <a:noFill/>
          </a:ln>
        </p:spPr>
      </p:sp>
      <p:sp>
        <p:nvSpPr>
          <p:cNvPr id="11" name="fin-title"/>
          <p:cNvSpPr txBox="1"/>
          <p:nvPr/>
        </p:nvSpPr>
        <p:spPr>
          <a:xfrm>
            <a:off x="7823200" y="1752600"/>
            <a:ext cx="3556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1E3B33"/>
                </a:solidFill>
                <a:latin typeface="MiSans"/>
                <a:ea typeface="MiSans"/>
              </a:rPr>
              <a:t>融资途径</a:t>
            </a:r>
            <a:endParaRPr lang="en-US" sz="1400" noProof="1"/>
          </a:p>
        </p:txBody>
      </p:sp>
      <p:sp>
        <p:nvSpPr>
          <p:cNvPr id="12" name="fin-body"/>
          <p:cNvSpPr txBox="1"/>
          <p:nvPr/>
        </p:nvSpPr>
        <p:spPr>
          <a:xfrm>
            <a:off x="7416800" y="2133600"/>
            <a:ext cx="39624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7A7264"/>
                </a:solidFill>
                <a:latin typeface="MiSans"/>
                <a:ea typeface="MiSans"/>
              </a:rPr>
              <a:t>我司融资购机，租赁给通过资质审核的县市级代理商；代理商只需支付履约保证金与月租金，即获得设备在县域的投放与经营权。</a:t>
            </a:r>
            <a:endParaRPr lang="en-US" sz="1150" noProof="1"/>
          </a:p>
        </p:txBody>
      </p:sp>
      <p:sp>
        <p:nvSpPr>
          <p:cNvPr id="13" name="fix-icon"/>
          <p:cNvSpPr/>
          <p:nvPr>
            <p:extLst>
              <p:ext uri="{F5677B7D-0D2A-4D9B-9A5C-6D8D7D0E5A5D}">
                <pptd:icon encoding="base64url">eyJpY29uTmFtZSI6ImZhczpzY3Jld2RyaXZlci13cmVuY2gifQ</pptd:icon>
              </p:ext>
            </p:extLst>
          </p:nvPr>
        </p:nvSpPr>
        <p:spPr>
          <a:xfrm>
            <a:off x="7416800" y="32004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71" y="-7"/>
                </a:moveTo>
                <a:cubicBezTo>
                  <a:pt x="76" y="-12"/>
                  <a:pt x="85" y="-13"/>
                  <a:pt x="91" y="-9"/>
                </a:cubicBezTo>
                <a:lnTo>
                  <a:pt x="210" y="71"/>
                </a:lnTo>
                <a:cubicBezTo>
                  <a:pt x="219" y="76"/>
                  <a:pt x="224" y="86"/>
                  <a:pt x="224" y="97"/>
                </a:cubicBezTo>
                <a:lnTo>
                  <a:pt x="224" y="147"/>
                </a:lnTo>
                <a:lnTo>
                  <a:pt x="315" y="238"/>
                </a:lnTo>
                <a:cubicBezTo>
                  <a:pt x="348" y="223"/>
                  <a:pt x="389" y="229"/>
                  <a:pt x="416" y="256"/>
                </a:cubicBezTo>
                <a:lnTo>
                  <a:pt x="542" y="382"/>
                </a:lnTo>
                <a:cubicBezTo>
                  <a:pt x="561" y="401"/>
                  <a:pt x="561" y="431"/>
                  <a:pt x="542" y="450"/>
                </a:cubicBezTo>
                <a:lnTo>
                  <a:pt x="482" y="510"/>
                </a:lnTo>
                <a:cubicBezTo>
                  <a:pt x="463" y="529"/>
                  <a:pt x="433" y="529"/>
                  <a:pt x="414" y="510"/>
                </a:cubicBezTo>
                <a:lnTo>
                  <a:pt x="288" y="384"/>
                </a:lnTo>
                <a:cubicBezTo>
                  <a:pt x="261" y="357"/>
                  <a:pt x="255" y="316"/>
                  <a:pt x="270" y="283"/>
                </a:cubicBezTo>
                <a:lnTo>
                  <a:pt x="179" y="192"/>
                </a:lnTo>
                <a:lnTo>
                  <a:pt x="129" y="192"/>
                </a:lnTo>
                <a:cubicBezTo>
                  <a:pt x="119" y="192"/>
                  <a:pt x="109" y="187"/>
                  <a:pt x="103" y="178"/>
                </a:cubicBezTo>
                <a:lnTo>
                  <a:pt x="23" y="59"/>
                </a:lnTo>
                <a:cubicBezTo>
                  <a:pt x="19" y="53"/>
                  <a:pt x="20" y="44"/>
                  <a:pt x="25" y="39"/>
                </a:cubicBezTo>
                <a:lnTo>
                  <a:pt x="71" y="-7"/>
                </a:lnTo>
                <a:close/>
              </a:path>
              <a:path w="576" h="512">
                <a:moveTo>
                  <a:pt x="216" y="297"/>
                </a:moveTo>
                <a:cubicBezTo>
                  <a:pt x="210" y="334"/>
                  <a:pt x="218" y="373"/>
                  <a:pt x="242" y="404"/>
                </a:cubicBezTo>
                <a:lnTo>
                  <a:pt x="147" y="499"/>
                </a:lnTo>
                <a:cubicBezTo>
                  <a:pt x="119" y="527"/>
                  <a:pt x="73" y="527"/>
                  <a:pt x="45" y="499"/>
                </a:cubicBezTo>
                <a:cubicBezTo>
                  <a:pt x="17" y="471"/>
                  <a:pt x="17" y="425"/>
                  <a:pt x="45" y="397"/>
                </a:cubicBezTo>
                <a:lnTo>
                  <a:pt x="181" y="262"/>
                </a:lnTo>
                <a:lnTo>
                  <a:pt x="216" y="297"/>
                </a:lnTo>
                <a:close/>
              </a:path>
              <a:path w="576" h="512">
                <a:moveTo>
                  <a:pt x="384" y="0"/>
                </a:moveTo>
                <a:cubicBezTo>
                  <a:pt x="404" y="0"/>
                  <a:pt x="424" y="4"/>
                  <a:pt x="441" y="11"/>
                </a:cubicBezTo>
                <a:cubicBezTo>
                  <a:pt x="451" y="14"/>
                  <a:pt x="453" y="27"/>
                  <a:pt x="446" y="35"/>
                </a:cubicBezTo>
                <a:lnTo>
                  <a:pt x="389" y="91"/>
                </a:lnTo>
                <a:cubicBezTo>
                  <a:pt x="386" y="94"/>
                  <a:pt x="384" y="98"/>
                  <a:pt x="384" y="103"/>
                </a:cubicBezTo>
                <a:lnTo>
                  <a:pt x="384" y="144"/>
                </a:lnTo>
                <a:cubicBezTo>
                  <a:pt x="384" y="153"/>
                  <a:pt x="391" y="160"/>
                  <a:pt x="400" y="160"/>
                </a:cubicBezTo>
                <a:lnTo>
                  <a:pt x="442" y="160"/>
                </a:lnTo>
                <a:cubicBezTo>
                  <a:pt x="446" y="160"/>
                  <a:pt x="450" y="158"/>
                  <a:pt x="453" y="155"/>
                </a:cubicBezTo>
                <a:lnTo>
                  <a:pt x="510" y="99"/>
                </a:lnTo>
                <a:cubicBezTo>
                  <a:pt x="517" y="91"/>
                  <a:pt x="530" y="93"/>
                  <a:pt x="534" y="103"/>
                </a:cubicBezTo>
                <a:cubicBezTo>
                  <a:pt x="540" y="121"/>
                  <a:pt x="544" y="140"/>
                  <a:pt x="544" y="160"/>
                </a:cubicBezTo>
                <a:cubicBezTo>
                  <a:pt x="544" y="203"/>
                  <a:pt x="527" y="242"/>
                  <a:pt x="499" y="271"/>
                </a:cubicBezTo>
                <a:lnTo>
                  <a:pt x="450" y="222"/>
                </a:lnTo>
                <a:cubicBezTo>
                  <a:pt x="417" y="189"/>
                  <a:pt x="372" y="176"/>
                  <a:pt x="329" y="184"/>
                </a:cubicBezTo>
                <a:lnTo>
                  <a:pt x="272" y="127"/>
                </a:lnTo>
                <a:lnTo>
                  <a:pt x="272" y="97"/>
                </a:lnTo>
                <a:lnTo>
                  <a:pt x="272" y="92"/>
                </a:lnTo>
                <a:cubicBezTo>
                  <a:pt x="271" y="80"/>
                  <a:pt x="268" y="68"/>
                  <a:pt x="261" y="57"/>
                </a:cubicBezTo>
                <a:cubicBezTo>
                  <a:pt x="291" y="22"/>
                  <a:pt x="335" y="0"/>
                  <a:pt x="384" y="0"/>
                </a:cubicBezTo>
                <a:close/>
              </a:path>
            </a:pathLst>
          </a:custGeom>
          <a:solidFill>
            <a:srgbClr val="C15F3C"/>
          </a:solidFill>
          <a:ln>
            <a:noFill/>
          </a:ln>
        </p:spPr>
      </p:sp>
      <p:sp>
        <p:nvSpPr>
          <p:cNvPr id="14" name="fix-title"/>
          <p:cNvSpPr txBox="1"/>
          <p:nvPr/>
        </p:nvSpPr>
        <p:spPr>
          <a:xfrm>
            <a:off x="7823200" y="3175000"/>
            <a:ext cx="3556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1E3B33"/>
                </a:solidFill>
                <a:latin typeface="MiSans"/>
                <a:ea typeface="MiSans"/>
              </a:rPr>
              <a:t>设备维修</a:t>
            </a:r>
            <a:endParaRPr lang="en-US" sz="1400" noProof="1"/>
          </a:p>
        </p:txBody>
      </p:sp>
      <p:sp>
        <p:nvSpPr>
          <p:cNvPr id="15" name="fix-body"/>
          <p:cNvSpPr txBox="1"/>
          <p:nvPr/>
        </p:nvSpPr>
        <p:spPr>
          <a:xfrm>
            <a:off x="7416800" y="3556000"/>
            <a:ext cx="3962400" cy="1219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7A7264"/>
                </a:solidFill>
                <a:latin typeface="MiSans"/>
                <a:ea typeface="MiSans"/>
              </a:rPr>
              <a:t>· 代理商组建本地初级维修能力（可依托现有团队或第三方）；</a:t>
            </a:r>
            <a:endParaRPr lang="en-US" sz="1150" noProof="1"/>
          </a:p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7A7264"/>
                </a:solidFill>
                <a:latin typeface="MiSans"/>
                <a:ea typeface="MiSans"/>
              </a:rPr>
              <a:t>· 我司负责换件（</a:t>
            </a:r>
            <a:r>
              <a:rPr lang="en-US" sz="1150" noProof="1" b="1">
                <a:solidFill>
                  <a:srgbClr val="7A7264"/>
                </a:solidFill>
                <a:latin typeface="MiSans"/>
                <a:ea typeface="MiSans"/>
              </a:rPr>
              <a:t>整机质保 15 个月</a:t>
            </a:r>
            <a:r>
              <a:rPr lang="en-US" sz="1150" noProof="1">
                <a:solidFill>
                  <a:srgbClr val="7A7264"/>
                </a:solidFill>
                <a:latin typeface="MiSans"/>
                <a:ea typeface="MiSans"/>
              </a:rPr>
              <a:t>）与返厂维修，来回运费由代理商承担；</a:t>
            </a:r>
            <a:endParaRPr lang="en-US" sz="1150" noProof="1"/>
          </a:p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7A7264"/>
                </a:solidFill>
                <a:latin typeface="MiSans"/>
                <a:ea typeface="MiSans"/>
              </a:rPr>
              <a:t>· 设备质量问题不作为拖欠、拒付租金的理由。</a:t>
            </a:r>
            <a:endParaRPr lang="en-US" sz="1150" noProof="1"/>
          </a:p>
        </p:txBody>
      </p:sp>
      <p:sp>
        <p:nvSpPr>
          <p:cNvPr id="16" name="bottom-rule"/>
          <p:cNvSpPr/>
          <p:nvPr>
            <p:extLst>
              <p:ext uri="{F5677B7D-0D2A-4D9B-9A5C-6D8D7D0E5A5D}">
                <pptd:line encoding="base64url">eyJ2aWV3Qm94IjpbODMyLDJdLCJwb2ludHMiOiIwLDEgODMyLDEifQ</pptd:line>
              </p:ext>
            </p:extLst>
          </p:nvPr>
        </p:nvSpPr>
        <p:spPr>
          <a:xfrm>
            <a:off x="812800" y="5689600"/>
            <a:ext cx="10566400" cy="25400"/>
          </a:xfrm>
          <a:custGeom>
            <a:avLst/>
            <a:gdLst/>
            <a:ahLst/>
            <a:cxnLst/>
            <a:rect l="l" t="t" r="r" b="b"/>
            <a:pathLst>
              <a:path w="832" h="2">
                <a:moveTo>
                  <a:pt x="0" y="1"/>
                </a:moveTo>
                <a:lnTo>
                  <a:pt x="832" y="1"/>
                </a:lnTo>
              </a:path>
            </a:pathLst>
          </a:custGeom>
          <a:noFill/>
          <a:ln w="19050" cap="rnd">
            <a:solidFill>
              <a:srgbClr val="1E3B33"/>
            </a:solidFill>
            <a:round/>
          </a:ln>
        </p:spPr>
      </p:sp>
      <p:sp>
        <p:nvSpPr>
          <p:cNvPr id="17" name="bottom-note"/>
          <p:cNvSpPr txBox="1"/>
          <p:nvPr/>
        </p:nvSpPr>
        <p:spPr>
          <a:xfrm>
            <a:off x="812800" y="5918200"/>
            <a:ext cx="105664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2B2822"/>
                </a:solidFill>
                <a:latin typeface="MiSans"/>
                <a:ea typeface="MiSans"/>
              </a:rPr>
              <a:t>对代理商而言，租赁把「买设备的赌」变成「做销量的账」：</a:t>
            </a:r>
            <a:r>
              <a:rPr lang="en-US" sz="1300" noProof="1" b="1">
                <a:solidFill>
                  <a:srgbClr val="2B2822"/>
                </a:solidFill>
                <a:latin typeface="MiSans"/>
                <a:ea typeface="MiSans"/>
              </a:rPr>
              <a:t>卖得好就增配，卖不好有迁点与退出机制</a:t>
            </a:r>
            <a:r>
              <a:rPr lang="en-US" sz="1300" noProof="1">
                <a:solidFill>
                  <a:srgbClr val="2B2822"/>
                </a:solidFill>
                <a:latin typeface="MiSans"/>
                <a:ea typeface="MiSans"/>
              </a:rPr>
              <a:t>，最坏情况下损失可控。</a:t>
            </a:r>
            <a:endParaRPr lang="en-US" sz="1300" noProof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6EF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6096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 noProof="1" b="1" spc="300" kern="0">
                <a:solidFill>
                  <a:srgbClr val="C15F3C"/>
                </a:solidFill>
                <a:latin typeface="MiSans"/>
                <a:ea typeface="MiSans"/>
              </a:rPr>
              <a:t>05 ｜ 招商政策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914400"/>
            <a:ext cx="105664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5000"/>
              </a:lnSpc>
            </a:pPr>
            <a:r>
              <a:rPr lang="en-US" sz="2800" noProof="1" b="1">
                <a:solidFill>
                  <a:srgbClr val="1E3B33"/>
                </a:solidFill>
                <a:latin typeface="MiSans"/>
                <a:ea typeface="MiSans"/>
              </a:rPr>
              <a:t>三年期租金方案与 SaaS 投放系统</a:t>
            </a:r>
            <a:endParaRPr lang="en-US" sz="2800" noProof="1"/>
          </a:p>
        </p:txBody>
      </p:sp>
      <p:graphicFrame>
        <p:nvGraphicFramePr>
          <p:cNvPr id="4" name="rent-table"/>
          <p:cNvGraphicFramePr>
            <a:graphicFrameLocks noGrp="1"/>
          </p:cNvGraphicFramePr>
          <p:nvPr/>
        </p:nvGraphicFramePr>
        <p:xfrm>
          <a:off x="812800" y="1676400"/>
          <a:ext cx="10566400" cy="1651000"/>
        </p:xfrm>
        <a:graphic>
          <a:graphicData uri="http://schemas.openxmlformats.org/drawingml/2006/table">
            <a:tbl>
              <a:tblPr/>
              <a:tblGrid>
                <a:gridCol w="3169920"/>
                <a:gridCol w="1796288"/>
                <a:gridCol w="1584960"/>
                <a:gridCol w="1901952"/>
                <a:gridCol w="2113280"/>
              </a:tblGrid>
              <a:tr h="49530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300" noProof="1" b="1">
                          <a:solidFill>
                            <a:srgbClr val="1E3B33"/>
                          </a:solidFill>
                          <a:latin typeface="Times New Roman"/>
                          <a:ea typeface="Times New Roman"/>
                        </a:rPr>
                        <a:t>机型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E3B33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300" noProof="1" b="1">
                          <a:solidFill>
                            <a:srgbClr val="1E3B33"/>
                          </a:solidFill>
                          <a:latin typeface="Times New Roman"/>
                          <a:ea typeface="Times New Roman"/>
                        </a:rPr>
                        <a:t>零售价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E3B33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300" noProof="1" b="1">
                          <a:solidFill>
                            <a:srgbClr val="1E3B33"/>
                          </a:solidFill>
                          <a:latin typeface="Times New Roman"/>
                          <a:ea typeface="Times New Roman"/>
                        </a:rPr>
                        <a:t>押金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E3B33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300" noProof="1" b="1">
                          <a:solidFill>
                            <a:srgbClr val="1E3B33"/>
                          </a:solidFill>
                          <a:latin typeface="Times New Roman"/>
                          <a:ea typeface="Times New Roman"/>
                        </a:rPr>
                        <a:t>三年月租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E3B33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300" noProof="1" b="1">
                          <a:solidFill>
                            <a:srgbClr val="1E3B33"/>
                          </a:solidFill>
                          <a:latin typeface="Times New Roman"/>
                          <a:ea typeface="Times New Roman"/>
                        </a:rPr>
                        <a:t>建议终端计费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E3B33"/>
                      </a:solidFill>
                    </a:lnB>
                    <a:noFill/>
                  </a:tcPr>
                </a:tc>
              </a:tr>
              <a:tr h="57785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>
                          <a:solidFill>
                            <a:srgbClr val="2B2822"/>
                          </a:solidFill>
                          <a:latin typeface="Times New Roman"/>
                          <a:ea typeface="Times New Roman"/>
                        </a:rPr>
                        <a:t>单机（标准果昔点位）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>
                          <a:solidFill>
                            <a:srgbClr val="2B2822"/>
                          </a:solidFill>
                          <a:latin typeface="Times New Roman"/>
                          <a:ea typeface="Times New Roman"/>
                        </a:rPr>
                        <a:t>20,800 元/台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>
                          <a:solidFill>
                            <a:srgbClr val="2B2822"/>
                          </a:solidFill>
                          <a:latin typeface="Times New Roman"/>
                          <a:ea typeface="Times New Roman"/>
                        </a:rPr>
                        <a:t>6,000 元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 b="1">
                          <a:solidFill>
                            <a:srgbClr val="C15F3C"/>
                          </a:solidFill>
                          <a:latin typeface="Times New Roman"/>
                          <a:ea typeface="Times New Roman"/>
                        </a:rPr>
                        <a:t>420 元/月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>
                          <a:solidFill>
                            <a:srgbClr val="2B2822"/>
                          </a:solidFill>
                          <a:latin typeface="Times New Roman"/>
                          <a:ea typeface="Times New Roman"/>
                        </a:rPr>
                        <a:t>1 元 / 杯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</a:tr>
              <a:tr h="57785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 b="1">
                          <a:solidFill>
                            <a:srgbClr val="2B2822"/>
                          </a:solidFill>
                          <a:latin typeface="Times New Roman"/>
                          <a:ea typeface="Times New Roman"/>
                        </a:rPr>
                        <a:t>带奶箱机型（主推）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>
                          <a:solidFill>
                            <a:srgbClr val="2B2822"/>
                          </a:solidFill>
                          <a:latin typeface="Times New Roman"/>
                          <a:ea typeface="Times New Roman"/>
                        </a:rPr>
                        <a:t>31,300 元/台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>
                          <a:solidFill>
                            <a:srgbClr val="2B2822"/>
                          </a:solidFill>
                          <a:latin typeface="Times New Roman"/>
                          <a:ea typeface="Times New Roman"/>
                        </a:rPr>
                        <a:t>10,000 元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 b="1">
                          <a:solidFill>
                            <a:srgbClr val="C15F3C"/>
                          </a:solidFill>
                          <a:latin typeface="Times New Roman"/>
                          <a:ea typeface="Times New Roman"/>
                        </a:rPr>
                        <a:t>600 元/月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>
                          <a:solidFill>
                            <a:srgbClr val="2B2822"/>
                          </a:solidFill>
                          <a:latin typeface="Times New Roman"/>
                          <a:ea typeface="Times New Roman"/>
                        </a:rPr>
                        <a:t>2 元 / 杯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rent-note"/>
          <p:cNvSpPr txBox="1"/>
          <p:nvPr/>
        </p:nvSpPr>
        <p:spPr>
          <a:xfrm>
            <a:off x="812800" y="3429000"/>
            <a:ext cx="105664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7A7264"/>
                </a:solidFill>
                <a:latin typeface="MiSans"/>
                <a:ea typeface="MiSans"/>
              </a:rPr>
              <a:t>租期三年，期满设备归代理商所有；押金于首批签约时缴纳，履约保证金另计；所有金额、设备归属、税费、保险与提前终止条件以正式合同为准。</a:t>
            </a:r>
            <a:endParaRPr lang="en-US" sz="1050" noProof="1"/>
          </a:p>
        </p:txBody>
      </p:sp>
      <p:sp>
        <p:nvSpPr>
          <p:cNvPr id="6" name="saas-rule"/>
          <p:cNvSpPr/>
          <p:nvPr>
            <p:extLst>
              <p:ext uri="{F5677B7D-0D2A-4D9B-9A5C-6D8D7D0E5A5D}">
                <pptd:line encoding="base64url">eyJ2aWV3Qm94IjpbODMyLDJdLCJwb2ludHMiOiIwLDEgODMyLDEifQ</pptd:line>
              </p:ext>
            </p:extLst>
          </p:nvPr>
        </p:nvSpPr>
        <p:spPr>
          <a:xfrm>
            <a:off x="812800" y="4038600"/>
            <a:ext cx="10566400" cy="25400"/>
          </a:xfrm>
          <a:custGeom>
            <a:avLst/>
            <a:gdLst/>
            <a:ahLst/>
            <a:cxnLst/>
            <a:rect l="l" t="t" r="r" b="b"/>
            <a:pathLst>
              <a:path w="832" h="2">
                <a:moveTo>
                  <a:pt x="0" y="1"/>
                </a:moveTo>
                <a:lnTo>
                  <a:pt x="832" y="1"/>
                </a:lnTo>
              </a:path>
            </a:pathLst>
          </a:custGeom>
          <a:noFill/>
          <a:ln w="12700" cap="rnd">
            <a:solidFill>
              <a:srgbClr val="D9CFBB"/>
            </a:solidFill>
            <a:round/>
          </a:ln>
        </p:spPr>
      </p:sp>
      <p:sp>
        <p:nvSpPr>
          <p:cNvPr id="7" name="saas-title"/>
          <p:cNvSpPr txBox="1"/>
          <p:nvPr/>
        </p:nvSpPr>
        <p:spPr>
          <a:xfrm>
            <a:off x="812800" y="4267200"/>
            <a:ext cx="6350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600" noProof="1" b="1">
                <a:solidFill>
                  <a:srgbClr val="1E3B33"/>
                </a:solidFill>
                <a:latin typeface="MiSans"/>
                <a:ea typeface="MiSans"/>
              </a:rPr>
              <a:t>SaaS 系统：让收租与运营全自动</a:t>
            </a:r>
            <a:endParaRPr lang="en-US" sz="1600" noProof="1"/>
          </a:p>
        </p:txBody>
      </p:sp>
      <p:sp>
        <p:nvSpPr>
          <p:cNvPr id="8" name="saas1-icon"/>
          <p:cNvSpPr/>
          <p:nvPr>
            <p:extLst>
              <p:ext uri="{F5677B7D-0D2A-4D9B-9A5C-6D8D7D0E5A5D}">
                <pptd:icon encoding="base64url">eyJpY29uTmFtZSI6ImZhczpxcmNvZGUifQ</pptd:icon>
              </p:ext>
            </p:extLst>
          </p:nvPr>
        </p:nvSpPr>
        <p:spPr>
          <a:xfrm>
            <a:off x="812800" y="4826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0" y="80"/>
                </a:moveTo>
                <a:cubicBezTo>
                  <a:pt x="0" y="54"/>
                  <a:pt x="22" y="32"/>
                  <a:pt x="48" y="32"/>
                </a:cubicBezTo>
                <a:lnTo>
                  <a:pt x="144" y="32"/>
                </a:lnTo>
                <a:cubicBezTo>
                  <a:pt x="171" y="32"/>
                  <a:pt x="192" y="54"/>
                  <a:pt x="192" y="80"/>
                </a:cubicBezTo>
                <a:lnTo>
                  <a:pt x="192" y="176"/>
                </a:lnTo>
                <a:cubicBezTo>
                  <a:pt x="192" y="203"/>
                  <a:pt x="171" y="224"/>
                  <a:pt x="144" y="224"/>
                </a:cubicBezTo>
                <a:lnTo>
                  <a:pt x="48" y="224"/>
                </a:lnTo>
                <a:cubicBezTo>
                  <a:pt x="22" y="224"/>
                  <a:pt x="0" y="203"/>
                  <a:pt x="0" y="176"/>
                </a:cubicBezTo>
                <a:lnTo>
                  <a:pt x="0" y="80"/>
                </a:lnTo>
                <a:close/>
                <a:moveTo>
                  <a:pt x="64" y="160"/>
                </a:moveTo>
                <a:lnTo>
                  <a:pt x="128" y="160"/>
                </a:lnTo>
                <a:lnTo>
                  <a:pt x="128" y="96"/>
                </a:lnTo>
                <a:lnTo>
                  <a:pt x="64" y="96"/>
                </a:lnTo>
                <a:lnTo>
                  <a:pt x="64" y="160"/>
                </a:lnTo>
                <a:close/>
              </a:path>
              <a:path w="448" h="512">
                <a:moveTo>
                  <a:pt x="0" y="336"/>
                </a:moveTo>
                <a:cubicBezTo>
                  <a:pt x="0" y="310"/>
                  <a:pt x="22" y="288"/>
                  <a:pt x="48" y="288"/>
                </a:cubicBezTo>
                <a:lnTo>
                  <a:pt x="144" y="288"/>
                </a:lnTo>
                <a:cubicBezTo>
                  <a:pt x="171" y="288"/>
                  <a:pt x="192" y="310"/>
                  <a:pt x="192" y="336"/>
                </a:cubicBezTo>
                <a:lnTo>
                  <a:pt x="192" y="432"/>
                </a:lnTo>
                <a:cubicBezTo>
                  <a:pt x="192" y="459"/>
                  <a:pt x="171" y="480"/>
                  <a:pt x="144" y="480"/>
                </a:cubicBezTo>
                <a:lnTo>
                  <a:pt x="48" y="480"/>
                </a:lnTo>
                <a:cubicBezTo>
                  <a:pt x="22" y="480"/>
                  <a:pt x="0" y="459"/>
                  <a:pt x="0" y="432"/>
                </a:cubicBezTo>
                <a:lnTo>
                  <a:pt x="0" y="336"/>
                </a:lnTo>
                <a:close/>
                <a:moveTo>
                  <a:pt x="64" y="416"/>
                </a:moveTo>
                <a:lnTo>
                  <a:pt x="128" y="416"/>
                </a:lnTo>
                <a:lnTo>
                  <a:pt x="128" y="352"/>
                </a:lnTo>
                <a:lnTo>
                  <a:pt x="64" y="352"/>
                </a:lnTo>
                <a:lnTo>
                  <a:pt x="64" y="416"/>
                </a:lnTo>
                <a:close/>
              </a:path>
              <a:path w="448" h="512">
                <a:moveTo>
                  <a:pt x="304" y="32"/>
                </a:moveTo>
                <a:lnTo>
                  <a:pt x="400" y="32"/>
                </a:lnTo>
                <a:cubicBezTo>
                  <a:pt x="427" y="32"/>
                  <a:pt x="448" y="54"/>
                  <a:pt x="448" y="80"/>
                </a:cubicBezTo>
                <a:lnTo>
                  <a:pt x="448" y="176"/>
                </a:lnTo>
                <a:cubicBezTo>
                  <a:pt x="448" y="203"/>
                  <a:pt x="427" y="224"/>
                  <a:pt x="400" y="224"/>
                </a:cubicBezTo>
                <a:lnTo>
                  <a:pt x="304" y="224"/>
                </a:lnTo>
                <a:cubicBezTo>
                  <a:pt x="278" y="224"/>
                  <a:pt x="256" y="203"/>
                  <a:pt x="256" y="176"/>
                </a:cubicBezTo>
                <a:lnTo>
                  <a:pt x="256" y="80"/>
                </a:lnTo>
                <a:cubicBezTo>
                  <a:pt x="256" y="54"/>
                  <a:pt x="278" y="32"/>
                  <a:pt x="304" y="32"/>
                </a:cubicBezTo>
                <a:close/>
                <a:moveTo>
                  <a:pt x="320" y="96"/>
                </a:moveTo>
                <a:lnTo>
                  <a:pt x="320" y="160"/>
                </a:lnTo>
                <a:lnTo>
                  <a:pt x="384" y="160"/>
                </a:lnTo>
                <a:lnTo>
                  <a:pt x="384" y="96"/>
                </a:lnTo>
                <a:lnTo>
                  <a:pt x="320" y="96"/>
                </a:lnTo>
                <a:close/>
              </a:path>
              <a:path w="448" h="512">
                <a:moveTo>
                  <a:pt x="288" y="352"/>
                </a:moveTo>
                <a:cubicBezTo>
                  <a:pt x="270" y="352"/>
                  <a:pt x="256" y="338"/>
                  <a:pt x="256" y="320"/>
                </a:cubicBezTo>
                <a:cubicBezTo>
                  <a:pt x="256" y="302"/>
                  <a:pt x="270" y="288"/>
                  <a:pt x="288" y="288"/>
                </a:cubicBezTo>
                <a:cubicBezTo>
                  <a:pt x="306" y="288"/>
                  <a:pt x="320" y="302"/>
                  <a:pt x="320" y="320"/>
                </a:cubicBezTo>
                <a:cubicBezTo>
                  <a:pt x="320" y="338"/>
                  <a:pt x="306" y="352"/>
                  <a:pt x="288" y="352"/>
                </a:cubicBezTo>
                <a:close/>
              </a:path>
              <a:path w="448" h="512">
                <a:moveTo>
                  <a:pt x="288" y="416"/>
                </a:moveTo>
                <a:cubicBezTo>
                  <a:pt x="306" y="416"/>
                  <a:pt x="320" y="430"/>
                  <a:pt x="320" y="448"/>
                </a:cubicBezTo>
                <a:cubicBezTo>
                  <a:pt x="320" y="466"/>
                  <a:pt x="306" y="480"/>
                  <a:pt x="288" y="480"/>
                </a:cubicBezTo>
                <a:cubicBezTo>
                  <a:pt x="270" y="480"/>
                  <a:pt x="256" y="466"/>
                  <a:pt x="256" y="448"/>
                </a:cubicBezTo>
                <a:cubicBezTo>
                  <a:pt x="256" y="430"/>
                  <a:pt x="270" y="416"/>
                  <a:pt x="288" y="416"/>
                </a:cubicBezTo>
                <a:close/>
              </a:path>
              <a:path w="448" h="512">
                <a:moveTo>
                  <a:pt x="384" y="448"/>
                </a:moveTo>
                <a:cubicBezTo>
                  <a:pt x="384" y="430"/>
                  <a:pt x="398" y="416"/>
                  <a:pt x="416" y="416"/>
                </a:cubicBezTo>
                <a:cubicBezTo>
                  <a:pt x="434" y="416"/>
                  <a:pt x="448" y="430"/>
                  <a:pt x="448" y="448"/>
                </a:cubicBezTo>
                <a:cubicBezTo>
                  <a:pt x="448" y="466"/>
                  <a:pt x="434" y="480"/>
                  <a:pt x="416" y="480"/>
                </a:cubicBezTo>
                <a:cubicBezTo>
                  <a:pt x="398" y="480"/>
                  <a:pt x="384" y="466"/>
                  <a:pt x="384" y="448"/>
                </a:cubicBezTo>
                <a:close/>
              </a:path>
              <a:path w="448" h="512">
                <a:moveTo>
                  <a:pt x="416" y="352"/>
                </a:moveTo>
                <a:cubicBezTo>
                  <a:pt x="398" y="352"/>
                  <a:pt x="384" y="338"/>
                  <a:pt x="384" y="320"/>
                </a:cubicBezTo>
                <a:cubicBezTo>
                  <a:pt x="384" y="302"/>
                  <a:pt x="398" y="288"/>
                  <a:pt x="416" y="288"/>
                </a:cubicBezTo>
                <a:cubicBezTo>
                  <a:pt x="434" y="288"/>
                  <a:pt x="448" y="302"/>
                  <a:pt x="448" y="320"/>
                </a:cubicBezTo>
                <a:cubicBezTo>
                  <a:pt x="448" y="338"/>
                  <a:pt x="434" y="352"/>
                  <a:pt x="416" y="352"/>
                </a:cubicBezTo>
                <a:close/>
              </a:path>
              <a:path w="448" h="512">
                <a:moveTo>
                  <a:pt x="384" y="384"/>
                </a:moveTo>
                <a:cubicBezTo>
                  <a:pt x="384" y="402"/>
                  <a:pt x="370" y="416"/>
                  <a:pt x="352" y="416"/>
                </a:cubicBezTo>
                <a:cubicBezTo>
                  <a:pt x="334" y="416"/>
                  <a:pt x="320" y="402"/>
                  <a:pt x="320" y="384"/>
                </a:cubicBezTo>
                <a:cubicBezTo>
                  <a:pt x="320" y="366"/>
                  <a:pt x="334" y="352"/>
                  <a:pt x="352" y="352"/>
                </a:cubicBezTo>
                <a:cubicBezTo>
                  <a:pt x="370" y="352"/>
                  <a:pt x="384" y="366"/>
                  <a:pt x="384" y="384"/>
                </a:cubicBezTo>
                <a:close/>
              </a:path>
            </a:pathLst>
          </a:custGeom>
          <a:solidFill>
            <a:srgbClr val="C15F3C"/>
          </a:solidFill>
          <a:ln>
            <a:noFill/>
          </a:ln>
        </p:spPr>
      </p:sp>
      <p:sp>
        <p:nvSpPr>
          <p:cNvPr id="9" name="saas1"/>
          <p:cNvSpPr txBox="1"/>
          <p:nvPr/>
        </p:nvSpPr>
        <p:spPr>
          <a:xfrm>
            <a:off x="1193800" y="4775200"/>
            <a:ext cx="4826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50" noProof="1" b="1">
                <a:solidFill>
                  <a:srgbClr val="7A7264"/>
                </a:solidFill>
                <a:latin typeface="MiSans"/>
                <a:ea typeface="MiSans"/>
              </a:rPr>
              <a:t>租金收取智能化</a:t>
            </a:r>
            <a:r>
              <a:rPr lang="en-US" sz="1150" noProof="1">
                <a:solidFill>
                  <a:srgbClr val="7A7264"/>
                </a:solidFill>
                <a:latin typeface="MiSans"/>
                <a:ea typeface="MiSans"/>
              </a:rPr>
              <a:t>：扫码支付；约定支付日未付款，设备自动停机，重新开通需支付激活费。</a:t>
            </a:r>
            <a:endParaRPr lang="en-US" sz="1150" noProof="1"/>
          </a:p>
        </p:txBody>
      </p:sp>
      <p:sp>
        <p:nvSpPr>
          <p:cNvPr id="10" name="saas2-icon"/>
          <p:cNvSpPr/>
          <p:nvPr>
            <p:extLst>
              <p:ext uri="{F5677B7D-0D2A-4D9B-9A5C-6D8D7D0E5A5D}">
                <pptd:icon encoding="base64url">eyJpY29uTmFtZSI6ImZhczpsYXllci1ncm91cCJ9</pptd:icon>
              </p:ext>
            </p:extLst>
          </p:nvPr>
        </p:nvSpPr>
        <p:spPr>
          <a:xfrm>
            <a:off x="6299200" y="4826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33" y="5"/>
                </a:moveTo>
                <a:cubicBezTo>
                  <a:pt x="247" y="-2"/>
                  <a:pt x="265" y="-2"/>
                  <a:pt x="280" y="5"/>
                </a:cubicBezTo>
                <a:lnTo>
                  <a:pt x="498" y="106"/>
                </a:lnTo>
                <a:cubicBezTo>
                  <a:pt x="507" y="110"/>
                  <a:pt x="512" y="119"/>
                  <a:pt x="512" y="128"/>
                </a:cubicBezTo>
                <a:cubicBezTo>
                  <a:pt x="512" y="137"/>
                  <a:pt x="507" y="146"/>
                  <a:pt x="498" y="150"/>
                </a:cubicBezTo>
                <a:lnTo>
                  <a:pt x="280" y="251"/>
                </a:lnTo>
                <a:cubicBezTo>
                  <a:pt x="265" y="258"/>
                  <a:pt x="247" y="258"/>
                  <a:pt x="233" y="251"/>
                </a:cubicBezTo>
                <a:lnTo>
                  <a:pt x="14" y="150"/>
                </a:lnTo>
                <a:cubicBezTo>
                  <a:pt x="5" y="146"/>
                  <a:pt x="0" y="137"/>
                  <a:pt x="0" y="128"/>
                </a:cubicBezTo>
                <a:cubicBezTo>
                  <a:pt x="0" y="119"/>
                  <a:pt x="5" y="110"/>
                  <a:pt x="14" y="106"/>
                </a:cubicBezTo>
                <a:lnTo>
                  <a:pt x="233" y="5"/>
                </a:lnTo>
                <a:close/>
              </a:path>
              <a:path w="512" h="512">
                <a:moveTo>
                  <a:pt x="48" y="218"/>
                </a:moveTo>
                <a:lnTo>
                  <a:pt x="212" y="294"/>
                </a:lnTo>
                <a:cubicBezTo>
                  <a:pt x="240" y="307"/>
                  <a:pt x="272" y="307"/>
                  <a:pt x="300" y="294"/>
                </a:cubicBezTo>
                <a:lnTo>
                  <a:pt x="464" y="218"/>
                </a:lnTo>
                <a:lnTo>
                  <a:pt x="498" y="234"/>
                </a:lnTo>
                <a:cubicBezTo>
                  <a:pt x="507" y="238"/>
                  <a:pt x="512" y="247"/>
                  <a:pt x="512" y="256"/>
                </a:cubicBezTo>
                <a:cubicBezTo>
                  <a:pt x="512" y="265"/>
                  <a:pt x="507" y="274"/>
                  <a:pt x="498" y="278"/>
                </a:cubicBezTo>
                <a:lnTo>
                  <a:pt x="280" y="379"/>
                </a:lnTo>
                <a:cubicBezTo>
                  <a:pt x="265" y="386"/>
                  <a:pt x="247" y="386"/>
                  <a:pt x="233" y="379"/>
                </a:cubicBezTo>
                <a:lnTo>
                  <a:pt x="14" y="278"/>
                </a:lnTo>
                <a:cubicBezTo>
                  <a:pt x="5" y="274"/>
                  <a:pt x="0" y="265"/>
                  <a:pt x="0" y="256"/>
                </a:cubicBezTo>
                <a:cubicBezTo>
                  <a:pt x="0" y="247"/>
                  <a:pt x="5" y="238"/>
                  <a:pt x="14" y="234"/>
                </a:cubicBezTo>
                <a:lnTo>
                  <a:pt x="48" y="218"/>
                </a:lnTo>
                <a:close/>
              </a:path>
              <a:path w="512" h="512">
                <a:moveTo>
                  <a:pt x="14" y="362"/>
                </a:moveTo>
                <a:lnTo>
                  <a:pt x="48" y="346"/>
                </a:lnTo>
                <a:lnTo>
                  <a:pt x="212" y="422"/>
                </a:lnTo>
                <a:cubicBezTo>
                  <a:pt x="240" y="435"/>
                  <a:pt x="272" y="435"/>
                  <a:pt x="300" y="422"/>
                </a:cubicBezTo>
                <a:lnTo>
                  <a:pt x="464" y="346"/>
                </a:lnTo>
                <a:lnTo>
                  <a:pt x="498" y="362"/>
                </a:lnTo>
                <a:cubicBezTo>
                  <a:pt x="507" y="366"/>
                  <a:pt x="512" y="375"/>
                  <a:pt x="512" y="384"/>
                </a:cubicBezTo>
                <a:cubicBezTo>
                  <a:pt x="512" y="393"/>
                  <a:pt x="507" y="402"/>
                  <a:pt x="498" y="406"/>
                </a:cubicBezTo>
                <a:lnTo>
                  <a:pt x="279" y="507"/>
                </a:lnTo>
                <a:cubicBezTo>
                  <a:pt x="265" y="514"/>
                  <a:pt x="247" y="514"/>
                  <a:pt x="232" y="507"/>
                </a:cubicBezTo>
                <a:lnTo>
                  <a:pt x="14" y="406"/>
                </a:lnTo>
                <a:cubicBezTo>
                  <a:pt x="5" y="402"/>
                  <a:pt x="0" y="393"/>
                  <a:pt x="0" y="384"/>
                </a:cubicBezTo>
                <a:cubicBezTo>
                  <a:pt x="0" y="375"/>
                  <a:pt x="5" y="366"/>
                  <a:pt x="14" y="362"/>
                </a:cubicBezTo>
                <a:close/>
              </a:path>
            </a:pathLst>
          </a:custGeom>
          <a:solidFill>
            <a:srgbClr val="C15F3C"/>
          </a:solidFill>
          <a:ln>
            <a:noFill/>
          </a:ln>
        </p:spPr>
      </p:sp>
      <p:sp>
        <p:nvSpPr>
          <p:cNvPr id="11" name="saas2"/>
          <p:cNvSpPr txBox="1"/>
          <p:nvPr/>
        </p:nvSpPr>
        <p:spPr>
          <a:xfrm>
            <a:off x="6680200" y="4775200"/>
            <a:ext cx="4826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50" noProof="1" b="1">
                <a:solidFill>
                  <a:srgbClr val="7A7264"/>
                </a:solidFill>
                <a:latin typeface="MiSans"/>
                <a:ea typeface="MiSans"/>
              </a:rPr>
              <a:t>两级分账自动完成</a:t>
            </a:r>
            <a:r>
              <a:rPr lang="en-US" sz="1150" noProof="1">
                <a:solidFill>
                  <a:srgbClr val="7A7264"/>
                </a:solidFill>
                <a:latin typeface="MiSans"/>
                <a:ea typeface="MiSans"/>
              </a:rPr>
              <a:t>：门店按月付租金给代理商，代理商按月付给我司，任一拖欠即停机。</a:t>
            </a:r>
            <a:endParaRPr lang="en-US" sz="1150" noProof="1"/>
          </a:p>
        </p:txBody>
      </p:sp>
      <p:sp>
        <p:nvSpPr>
          <p:cNvPr id="12" name="saas3-icon"/>
          <p:cNvSpPr/>
          <p:nvPr>
            <p:extLst>
              <p:ext uri="{F5677B7D-0D2A-4D9B-9A5C-6D8D7D0E5A5D}">
                <pptd:icon encoding="base64url">eyJpY29uTmFtZSI6ImZhczpjaGFydC1saW5lIn0</pptd:icon>
              </p:ext>
            </p:extLst>
          </p:nvPr>
        </p:nvSpPr>
        <p:spPr>
          <a:xfrm>
            <a:off x="812800" y="5638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64" y="64"/>
                </a:moveTo>
                <a:cubicBezTo>
                  <a:pt x="64" y="46"/>
                  <a:pt x="50" y="32"/>
                  <a:pt x="32" y="32"/>
                </a:cubicBezTo>
                <a:cubicBezTo>
                  <a:pt x="14" y="32"/>
                  <a:pt x="0" y="46"/>
                  <a:pt x="0" y="64"/>
                </a:cubicBezTo>
                <a:lnTo>
                  <a:pt x="0" y="400"/>
                </a:lnTo>
                <a:cubicBezTo>
                  <a:pt x="0" y="444"/>
                  <a:pt x="36" y="480"/>
                  <a:pt x="80" y="480"/>
                </a:cubicBezTo>
                <a:lnTo>
                  <a:pt x="480" y="480"/>
                </a:lnTo>
                <a:cubicBezTo>
                  <a:pt x="498" y="480"/>
                  <a:pt x="512" y="466"/>
                  <a:pt x="512" y="448"/>
                </a:cubicBezTo>
                <a:cubicBezTo>
                  <a:pt x="512" y="430"/>
                  <a:pt x="498" y="416"/>
                  <a:pt x="480" y="416"/>
                </a:cubicBezTo>
                <a:lnTo>
                  <a:pt x="80" y="416"/>
                </a:lnTo>
                <a:cubicBezTo>
                  <a:pt x="71" y="416"/>
                  <a:pt x="64" y="409"/>
                  <a:pt x="64" y="400"/>
                </a:cubicBezTo>
                <a:lnTo>
                  <a:pt x="64" y="64"/>
                </a:lnTo>
                <a:close/>
                <a:moveTo>
                  <a:pt x="471" y="151"/>
                </a:moveTo>
                <a:cubicBezTo>
                  <a:pt x="483" y="138"/>
                  <a:pt x="483" y="118"/>
                  <a:pt x="471" y="105"/>
                </a:cubicBezTo>
                <a:cubicBezTo>
                  <a:pt x="458" y="93"/>
                  <a:pt x="438" y="93"/>
                  <a:pt x="425" y="105"/>
                </a:cubicBezTo>
                <a:lnTo>
                  <a:pt x="320" y="211"/>
                </a:lnTo>
                <a:lnTo>
                  <a:pt x="263" y="153"/>
                </a:lnTo>
                <a:cubicBezTo>
                  <a:pt x="250" y="141"/>
                  <a:pt x="230" y="141"/>
                  <a:pt x="217" y="153"/>
                </a:cubicBezTo>
                <a:lnTo>
                  <a:pt x="121" y="249"/>
                </a:lnTo>
                <a:cubicBezTo>
                  <a:pt x="109" y="262"/>
                  <a:pt x="109" y="282"/>
                  <a:pt x="121" y="295"/>
                </a:cubicBezTo>
                <a:cubicBezTo>
                  <a:pt x="134" y="307"/>
                  <a:pt x="154" y="307"/>
                  <a:pt x="167" y="295"/>
                </a:cubicBezTo>
                <a:lnTo>
                  <a:pt x="240" y="221"/>
                </a:lnTo>
                <a:lnTo>
                  <a:pt x="297" y="279"/>
                </a:lnTo>
                <a:cubicBezTo>
                  <a:pt x="310" y="291"/>
                  <a:pt x="330" y="291"/>
                  <a:pt x="343" y="279"/>
                </a:cubicBezTo>
                <a:lnTo>
                  <a:pt x="471" y="151"/>
                </a:lnTo>
                <a:close/>
              </a:path>
            </a:pathLst>
          </a:custGeom>
          <a:solidFill>
            <a:srgbClr val="C15F3C"/>
          </a:solidFill>
          <a:ln>
            <a:noFill/>
          </a:ln>
        </p:spPr>
      </p:sp>
      <p:sp>
        <p:nvSpPr>
          <p:cNvPr id="13" name="saas3"/>
          <p:cNvSpPr txBox="1"/>
          <p:nvPr/>
        </p:nvSpPr>
        <p:spPr>
          <a:xfrm>
            <a:off x="1193800" y="5588000"/>
            <a:ext cx="4826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50" noProof="1" b="1">
                <a:solidFill>
                  <a:srgbClr val="7A7264"/>
                </a:solidFill>
                <a:latin typeface="MiSans"/>
                <a:ea typeface="MiSans"/>
              </a:rPr>
              <a:t>经营监控</a:t>
            </a:r>
            <a:r>
              <a:rPr lang="en-US" sz="1150" noProof="1">
                <a:solidFill>
                  <a:srgbClr val="7A7264"/>
                </a:solidFill>
                <a:latin typeface="MiSans"/>
                <a:ea typeface="MiSans"/>
              </a:rPr>
              <a:t>：销量 / 库存 / 故障监控、对账报表与销量热力图，数据一目了然。</a:t>
            </a:r>
            <a:endParaRPr lang="en-US" sz="1150" noProof="1"/>
          </a:p>
        </p:txBody>
      </p:sp>
      <p:sp>
        <p:nvSpPr>
          <p:cNvPr id="14" name="saas4-icon"/>
          <p:cNvSpPr/>
          <p:nvPr>
            <p:extLst>
              <p:ext uri="{F5677B7D-0D2A-4D9B-9A5C-6D8D7D0E5A5D}">
                <pptd:icon encoding="base64url">eyJpY29uTmFtZSI6ImZhczpsYXB0b3AtY29kZSJ9</pptd:icon>
              </p:ext>
            </p:extLst>
          </p:nvPr>
        </p:nvSpPr>
        <p:spPr>
          <a:xfrm>
            <a:off x="6299200" y="5638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64" y="96"/>
                </a:moveTo>
                <a:cubicBezTo>
                  <a:pt x="64" y="61"/>
                  <a:pt x="93" y="32"/>
                  <a:pt x="128" y="32"/>
                </a:cubicBezTo>
                <a:lnTo>
                  <a:pt x="512" y="32"/>
                </a:lnTo>
                <a:cubicBezTo>
                  <a:pt x="547" y="32"/>
                  <a:pt x="576" y="61"/>
                  <a:pt x="576" y="96"/>
                </a:cubicBezTo>
                <a:lnTo>
                  <a:pt x="576" y="336"/>
                </a:lnTo>
                <a:lnTo>
                  <a:pt x="512" y="336"/>
                </a:lnTo>
                <a:lnTo>
                  <a:pt x="512" y="96"/>
                </a:lnTo>
                <a:lnTo>
                  <a:pt x="128" y="96"/>
                </a:lnTo>
                <a:lnTo>
                  <a:pt x="128" y="336"/>
                </a:lnTo>
                <a:lnTo>
                  <a:pt x="64" y="336"/>
                </a:lnTo>
                <a:lnTo>
                  <a:pt x="64" y="96"/>
                </a:lnTo>
                <a:close/>
              </a:path>
              <a:path w="640" h="512">
                <a:moveTo>
                  <a:pt x="0" y="403"/>
                </a:moveTo>
                <a:cubicBezTo>
                  <a:pt x="0" y="393"/>
                  <a:pt x="9" y="384"/>
                  <a:pt x="19" y="384"/>
                </a:cubicBezTo>
                <a:lnTo>
                  <a:pt x="621" y="384"/>
                </a:lnTo>
                <a:cubicBezTo>
                  <a:pt x="631" y="384"/>
                  <a:pt x="640" y="393"/>
                  <a:pt x="640" y="403"/>
                </a:cubicBezTo>
                <a:cubicBezTo>
                  <a:pt x="640" y="446"/>
                  <a:pt x="606" y="480"/>
                  <a:pt x="563" y="480"/>
                </a:cubicBezTo>
                <a:lnTo>
                  <a:pt x="77" y="480"/>
                </a:lnTo>
                <a:cubicBezTo>
                  <a:pt x="34" y="480"/>
                  <a:pt x="0" y="446"/>
                  <a:pt x="0" y="403"/>
                </a:cubicBezTo>
                <a:close/>
              </a:path>
              <a:path w="640" h="512">
                <a:moveTo>
                  <a:pt x="281" y="209"/>
                </a:moveTo>
                <a:lnTo>
                  <a:pt x="250" y="240"/>
                </a:lnTo>
                <a:lnTo>
                  <a:pt x="281" y="271"/>
                </a:lnTo>
                <a:cubicBezTo>
                  <a:pt x="290" y="280"/>
                  <a:pt x="290" y="296"/>
                  <a:pt x="281" y="305"/>
                </a:cubicBezTo>
                <a:cubicBezTo>
                  <a:pt x="272" y="314"/>
                  <a:pt x="256" y="314"/>
                  <a:pt x="247" y="305"/>
                </a:cubicBezTo>
                <a:lnTo>
                  <a:pt x="199" y="257"/>
                </a:lnTo>
                <a:cubicBezTo>
                  <a:pt x="190" y="247"/>
                  <a:pt x="190" y="232"/>
                  <a:pt x="199" y="223"/>
                </a:cubicBezTo>
                <a:lnTo>
                  <a:pt x="247" y="175"/>
                </a:lnTo>
                <a:cubicBezTo>
                  <a:pt x="257" y="166"/>
                  <a:pt x="272" y="166"/>
                  <a:pt x="281" y="175"/>
                </a:cubicBezTo>
                <a:cubicBezTo>
                  <a:pt x="290" y="184"/>
                  <a:pt x="290" y="200"/>
                  <a:pt x="281" y="209"/>
                </a:cubicBezTo>
                <a:close/>
              </a:path>
              <a:path w="640" h="512">
                <a:moveTo>
                  <a:pt x="393" y="175"/>
                </a:moveTo>
                <a:lnTo>
                  <a:pt x="441" y="223"/>
                </a:lnTo>
                <a:cubicBezTo>
                  <a:pt x="450" y="232"/>
                  <a:pt x="450" y="248"/>
                  <a:pt x="441" y="257"/>
                </a:cubicBezTo>
                <a:lnTo>
                  <a:pt x="393" y="305"/>
                </a:lnTo>
                <a:cubicBezTo>
                  <a:pt x="384" y="314"/>
                  <a:pt x="368" y="314"/>
                  <a:pt x="359" y="305"/>
                </a:cubicBezTo>
                <a:cubicBezTo>
                  <a:pt x="350" y="296"/>
                  <a:pt x="350" y="280"/>
                  <a:pt x="359" y="271"/>
                </a:cubicBezTo>
                <a:lnTo>
                  <a:pt x="390" y="240"/>
                </a:lnTo>
                <a:lnTo>
                  <a:pt x="359" y="209"/>
                </a:lnTo>
                <a:cubicBezTo>
                  <a:pt x="350" y="200"/>
                  <a:pt x="350" y="184"/>
                  <a:pt x="359" y="175"/>
                </a:cubicBezTo>
                <a:cubicBezTo>
                  <a:pt x="369" y="166"/>
                  <a:pt x="384" y="166"/>
                  <a:pt x="393" y="175"/>
                </a:cubicBezTo>
                <a:close/>
              </a:path>
            </a:pathLst>
          </a:custGeom>
          <a:solidFill>
            <a:srgbClr val="C15F3C"/>
          </a:solidFill>
          <a:ln>
            <a:noFill/>
          </a:ln>
        </p:spPr>
      </p:sp>
      <p:sp>
        <p:nvSpPr>
          <p:cNvPr id="15" name="saas4"/>
          <p:cNvSpPr txBox="1"/>
          <p:nvPr/>
        </p:nvSpPr>
        <p:spPr>
          <a:xfrm>
            <a:off x="6680200" y="5588000"/>
            <a:ext cx="4826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50" noProof="1" b="1">
                <a:solidFill>
                  <a:srgbClr val="7A7264"/>
                </a:solidFill>
                <a:latin typeface="MiSans"/>
                <a:ea typeface="MiSans"/>
              </a:rPr>
              <a:t>零 IT 门槛</a:t>
            </a:r>
            <a:r>
              <a:rPr lang="en-US" sz="1150" noProof="1">
                <a:solidFill>
                  <a:srgbClr val="7A7264"/>
                </a:solidFill>
                <a:latin typeface="MiSans"/>
                <a:ea typeface="MiSans"/>
              </a:rPr>
              <a:t>：代理商无需自建系统，即可运营整县设备网络。</a:t>
            </a:r>
            <a:endParaRPr lang="en-US" sz="1150" noProof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6EF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6096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 noProof="1" b="1" spc="300" kern="0">
                <a:solidFill>
                  <a:srgbClr val="C15F3C"/>
                </a:solidFill>
                <a:latin typeface="MiSans"/>
                <a:ea typeface="MiSans"/>
              </a:rPr>
              <a:t>06 ｜ 合作准入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914400"/>
            <a:ext cx="105664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5000"/>
              </a:lnSpc>
            </a:pPr>
            <a:r>
              <a:rPr lang="en-US" sz="2800" noProof="1" b="1">
                <a:solidFill>
                  <a:srgbClr val="1E3B33"/>
                </a:solidFill>
                <a:latin typeface="MiSans"/>
                <a:ea typeface="MiSans"/>
              </a:rPr>
              <a:t>我们寻找这样的代理商</a:t>
            </a:r>
            <a:endParaRPr lang="en-US" sz="2800" noProof="1"/>
          </a:p>
        </p:txBody>
      </p:sp>
      <p:sp>
        <p:nvSpPr>
          <p:cNvPr id="4" name="hard-title"/>
          <p:cNvSpPr txBox="1"/>
          <p:nvPr/>
        </p:nvSpPr>
        <p:spPr>
          <a:xfrm>
            <a:off x="812800" y="1625600"/>
            <a:ext cx="105664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C15F3C"/>
                </a:solidFill>
                <a:latin typeface="MiSans"/>
                <a:ea typeface="MiSans"/>
              </a:rPr>
              <a:t>硬性准入资质（须同时满足）</a:t>
            </a:r>
            <a:endParaRPr lang="en-US" sz="1400" noProof="1"/>
          </a:p>
        </p:txBody>
      </p:sp>
      <p:sp>
        <p:nvSpPr>
          <p:cNvPr id="5" name="hard1"/>
          <p:cNvSpPr txBox="1"/>
          <p:nvPr/>
        </p:nvSpPr>
        <p:spPr>
          <a:xfrm>
            <a:off x="812800" y="2006600"/>
            <a:ext cx="33528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800" noProof="1" b="1">
                <a:solidFill>
                  <a:srgbClr val="1E3B33"/>
                </a:solidFill>
                <a:latin typeface="MiSans"/>
                <a:ea typeface="MiSans"/>
              </a:rPr>
              <a:t>① 注册满 3 年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lang="en-US" sz="1100" noProof="1">
                <a:solidFill>
                  <a:srgbClr val="7A7264"/>
                </a:solidFill>
                <a:latin typeface="MiSans"/>
                <a:ea typeface="MiSans"/>
              </a:rPr>
              <a:t>依法注册的商贸公司</a:t>
            </a:r>
            <a:endParaRPr lang="en-US" sz="1600" noProof="1"/>
          </a:p>
        </p:txBody>
      </p:sp>
      <p:sp>
        <p:nvSpPr>
          <p:cNvPr id="6" name="hard2"/>
          <p:cNvSpPr txBox="1"/>
          <p:nvPr/>
        </p:nvSpPr>
        <p:spPr>
          <a:xfrm>
            <a:off x="4419600" y="2006600"/>
            <a:ext cx="33528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800" noProof="1" b="1">
                <a:solidFill>
                  <a:srgbClr val="1E3B33"/>
                </a:solidFill>
                <a:latin typeface="MiSans"/>
                <a:ea typeface="MiSans"/>
              </a:rPr>
              <a:t>② 年营收 ≥1000 万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lang="en-US" sz="1100" noProof="1">
                <a:solidFill>
                  <a:srgbClr val="7A7264"/>
                </a:solidFill>
                <a:latin typeface="MiSans"/>
                <a:ea typeface="MiSans"/>
              </a:rPr>
              <a:t>以财务报表或纳税证明为准</a:t>
            </a:r>
            <a:endParaRPr lang="en-US" sz="1600" noProof="1"/>
          </a:p>
        </p:txBody>
      </p:sp>
      <p:sp>
        <p:nvSpPr>
          <p:cNvPr id="7" name="hard3"/>
          <p:cNvSpPr txBox="1"/>
          <p:nvPr/>
        </p:nvSpPr>
        <p:spPr>
          <a:xfrm>
            <a:off x="8026400" y="2006600"/>
            <a:ext cx="33528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800" noProof="1" b="1">
                <a:solidFill>
                  <a:srgbClr val="1E3B33"/>
                </a:solidFill>
                <a:latin typeface="MiSans"/>
                <a:ea typeface="MiSans"/>
              </a:rPr>
              <a:t>③ 开票能力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lang="en-US" sz="1100" noProof="1">
                <a:solidFill>
                  <a:srgbClr val="7A7264"/>
                </a:solidFill>
                <a:latin typeface="MiSans"/>
                <a:ea typeface="MiSans"/>
              </a:rPr>
              <a:t>一般纳税人资格或相应能力（一事一议）</a:t>
            </a:r>
            <a:endParaRPr lang="en-US" sz="1600" noProof="1"/>
          </a:p>
        </p:txBody>
      </p:sp>
      <p:sp>
        <p:nvSpPr>
          <p:cNvPr id="8" name="mid-rule"/>
          <p:cNvSpPr/>
          <p:nvPr>
            <p:extLst>
              <p:ext uri="{F5677B7D-0D2A-4D9B-9A5C-6D8D7D0E5A5D}">
                <pptd:line encoding="base64url">eyJ2aWV3Qm94IjpbODMyLDJdLCJwb2ludHMiOiIwLDEgODMyLDEifQ</pptd:line>
              </p:ext>
            </p:extLst>
          </p:nvPr>
        </p:nvSpPr>
        <p:spPr>
          <a:xfrm>
            <a:off x="812800" y="2870200"/>
            <a:ext cx="10566400" cy="25400"/>
          </a:xfrm>
          <a:custGeom>
            <a:avLst/>
            <a:gdLst/>
            <a:ahLst/>
            <a:cxnLst/>
            <a:rect l="l" t="t" r="r" b="b"/>
            <a:pathLst>
              <a:path w="832" h="2">
                <a:moveTo>
                  <a:pt x="0" y="1"/>
                </a:moveTo>
                <a:lnTo>
                  <a:pt x="832" y="1"/>
                </a:lnTo>
              </a:path>
            </a:pathLst>
          </a:custGeom>
          <a:noFill/>
          <a:ln w="12700" cap="rnd">
            <a:solidFill>
              <a:srgbClr val="D9CFBB"/>
            </a:solidFill>
            <a:round/>
          </a:ln>
        </p:spPr>
      </p:sp>
      <p:sp>
        <p:nvSpPr>
          <p:cNvPr id="9" name="pref-title"/>
          <p:cNvSpPr txBox="1"/>
          <p:nvPr/>
        </p:nvSpPr>
        <p:spPr>
          <a:xfrm>
            <a:off x="812800" y="3098800"/>
            <a:ext cx="508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1E3B33"/>
                </a:solidFill>
                <a:latin typeface="MiSans"/>
                <a:ea typeface="MiSans"/>
              </a:rPr>
              <a:t>优选画像（满足越多，优先级越高）</a:t>
            </a:r>
            <a:endParaRPr lang="en-US" sz="1400" noProof="1"/>
          </a:p>
        </p:txBody>
      </p:sp>
      <p:graphicFrame>
        <p:nvGraphicFramePr>
          <p:cNvPr id="10" name="pref-table"/>
          <p:cNvGraphicFramePr>
            <a:graphicFrameLocks noGrp="1"/>
          </p:cNvGraphicFramePr>
          <p:nvPr/>
        </p:nvGraphicFramePr>
        <p:xfrm>
          <a:off x="812800" y="3505200"/>
          <a:ext cx="6096000" cy="2540000"/>
        </p:xfrm>
        <a:graphic>
          <a:graphicData uri="http://schemas.openxmlformats.org/drawingml/2006/table">
            <a:tbl>
              <a:tblPr/>
              <a:tblGrid>
                <a:gridCol w="1097280"/>
                <a:gridCol w="4998720"/>
              </a:tblGrid>
              <a:tr h="40640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300" noProof="1" b="1">
                          <a:solidFill>
                            <a:srgbClr val="1E3B33"/>
                          </a:solidFill>
                          <a:latin typeface="Times New Roman"/>
                          <a:ea typeface="Times New Roman"/>
                        </a:rPr>
                        <a:t>维度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E3B33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300" noProof="1" b="1">
                          <a:solidFill>
                            <a:srgbClr val="1E3B33"/>
                          </a:solidFill>
                          <a:latin typeface="Times New Roman"/>
                          <a:ea typeface="Times New Roman"/>
                        </a:rPr>
                        <a:t>优选标准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E3B33"/>
                      </a:solidFill>
                    </a:lnB>
                    <a:noFill/>
                  </a:tcPr>
                </a:tc>
              </a:tr>
              <a:tr h="42672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>
                          <a:solidFill>
                            <a:srgbClr val="2B2822"/>
                          </a:solidFill>
                          <a:latin typeface="Times New Roman"/>
                          <a:ea typeface="Times New Roman"/>
                        </a:rPr>
                        <a:t>渠道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>
                          <a:solidFill>
                            <a:srgbClr val="2B2822"/>
                          </a:solidFill>
                          <a:latin typeface="Times New Roman"/>
                          <a:ea typeface="Times New Roman"/>
                        </a:rPr>
                        <a:t>已有 100 家以上有效终端，团队可日访店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</a:tr>
              <a:tr h="42672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>
                          <a:solidFill>
                            <a:srgbClr val="2B2822"/>
                          </a:solidFill>
                          <a:latin typeface="Times New Roman"/>
                          <a:ea typeface="Times New Roman"/>
                        </a:rPr>
                        <a:t>品类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>
                          <a:solidFill>
                            <a:srgbClr val="2B2822"/>
                          </a:solidFill>
                          <a:latin typeface="Times New Roman"/>
                          <a:ea typeface="Times New Roman"/>
                        </a:rPr>
                        <a:t>酒饮、乳品、冷冻食品、休闲食品、咖啡原料等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</a:tr>
              <a:tr h="42672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>
                          <a:solidFill>
                            <a:srgbClr val="2B2822"/>
                          </a:solidFill>
                          <a:latin typeface="Times New Roman"/>
                          <a:ea typeface="Times New Roman"/>
                        </a:rPr>
                        <a:t>能力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>
                          <a:solidFill>
                            <a:srgbClr val="2B2822"/>
                          </a:solidFill>
                          <a:latin typeface="Times New Roman"/>
                          <a:ea typeface="Times New Roman"/>
                        </a:rPr>
                        <a:t>老板亲自带队试点，有仓储、车辆与初级售后能力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</a:tr>
              <a:tr h="42672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>
                          <a:solidFill>
                            <a:srgbClr val="2B2822"/>
                          </a:solidFill>
                          <a:latin typeface="Times New Roman"/>
                          <a:ea typeface="Times New Roman"/>
                        </a:rPr>
                        <a:t>资金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>
                          <a:solidFill>
                            <a:srgbClr val="2B2822"/>
                          </a:solidFill>
                          <a:latin typeface="Times New Roman"/>
                          <a:ea typeface="Times New Roman"/>
                        </a:rPr>
                        <a:t>可覆盖 3 个月运营现金流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</a:tr>
              <a:tr h="42672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>
                          <a:solidFill>
                            <a:srgbClr val="2B2822"/>
                          </a:solidFill>
                          <a:latin typeface="Times New Roman"/>
                          <a:ea typeface="Times New Roman"/>
                        </a:rPr>
                        <a:t>理念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50" noProof="1">
                          <a:solidFill>
                            <a:srgbClr val="2B2822"/>
                          </a:solidFill>
                          <a:latin typeface="Times New Roman"/>
                          <a:ea typeface="Times New Roman"/>
                        </a:rPr>
                        <a:t>接受数据考核与点位调整，认可「达标后独家」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CFBB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right-col-rule"/>
          <p:cNvSpPr/>
          <p:nvPr>
            <p:extLst>
              <p:ext uri="{F5677B7D-0D2A-4D9B-9A5C-6D8D7D0E5A5D}">
                <pptd:line encoding="base64url">eyJ2aWV3Qm94IjpbMSwyMzJdLCJwb2ludHMiOiIwLjUsMCAwLjUsMjMyIn0</pptd:line>
              </p:ext>
            </p:extLst>
          </p:nvPr>
        </p:nvSpPr>
        <p:spPr>
          <a:xfrm>
            <a:off x="7416800" y="3098800"/>
            <a:ext cx="12700" cy="2946400"/>
          </a:xfrm>
          <a:custGeom>
            <a:avLst/>
            <a:gdLst/>
            <a:ahLst/>
            <a:cxnLst/>
            <a:rect l="l" t="t" r="r" b="b"/>
            <a:pathLst>
              <a:path w="1" h="232">
                <a:moveTo>
                  <a:pt x="1" y="0"/>
                </a:moveTo>
                <a:lnTo>
                  <a:pt x="1" y="232"/>
                </a:lnTo>
              </a:path>
            </a:pathLst>
          </a:custGeom>
          <a:noFill/>
          <a:ln w="12700" cap="rnd">
            <a:solidFill>
              <a:srgbClr val="D9CFBB"/>
            </a:solidFill>
            <a:round/>
          </a:ln>
        </p:spPr>
      </p:sp>
      <p:sp>
        <p:nvSpPr>
          <p:cNvPr id="12" name="out-title"/>
          <p:cNvSpPr txBox="1"/>
          <p:nvPr/>
        </p:nvSpPr>
        <p:spPr>
          <a:xfrm>
            <a:off x="7823200" y="3098800"/>
            <a:ext cx="3556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7A7264"/>
                </a:solidFill>
                <a:latin typeface="MiSans"/>
                <a:ea typeface="MiSans"/>
              </a:rPr>
              <a:t>淘汰信号</a:t>
            </a:r>
            <a:endParaRPr lang="en-US" sz="1400" noProof="1"/>
          </a:p>
        </p:txBody>
      </p:sp>
      <p:sp>
        <p:nvSpPr>
          <p:cNvPr id="13" name="out-body"/>
          <p:cNvSpPr txBox="1"/>
          <p:nvPr/>
        </p:nvSpPr>
        <p:spPr>
          <a:xfrm>
            <a:off x="7823200" y="3530600"/>
            <a:ext cx="3556000" cy="228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90000"/>
              </a:lnSpc>
            </a:pPr>
            <a:r>
              <a:rPr lang="en-US" sz="1250" noProof="1">
                <a:solidFill>
                  <a:srgbClr val="7A7264"/>
                </a:solidFill>
                <a:latin typeface="MiSans"/>
                <a:ea typeface="MiSans"/>
              </a:rPr>
              <a:t>✕ 只有「关系」，没有拜访和订单数据</a:t>
            </a:r>
            <a:endParaRPr lang="en-US" sz="1250" noProof="1"/>
          </a:p>
          <a:p>
            <a:pPr>
              <a:lnSpc>
                <a:spcPct val="190000"/>
              </a:lnSpc>
            </a:pPr>
            <a:r>
              <a:rPr lang="en-US" sz="1250" noProof="1">
                <a:solidFill>
                  <a:srgbClr val="7A7264"/>
                </a:solidFill>
                <a:latin typeface="MiSans"/>
                <a:ea typeface="MiSans"/>
              </a:rPr>
              <a:t>✕ 只想招下级、先要全县独家</a:t>
            </a:r>
            <a:endParaRPr lang="en-US" sz="1250" noProof="1"/>
          </a:p>
          <a:p>
            <a:pPr>
              <a:lnSpc>
                <a:spcPct val="190000"/>
              </a:lnSpc>
            </a:pPr>
            <a:r>
              <a:rPr lang="en-US" sz="1250" noProof="1">
                <a:solidFill>
                  <a:srgbClr val="7A7264"/>
                </a:solidFill>
                <a:latin typeface="MiSans"/>
                <a:ea typeface="MiSans"/>
              </a:rPr>
              <a:t>✕ 只关心设备差价与首批返利，不接受运营考核</a:t>
            </a:r>
            <a:endParaRPr lang="en-US" sz="1250" noProof="1"/>
          </a:p>
        </p:txBody>
      </p:sp>
      <p:sp>
        <p:nvSpPr>
          <p:cNvPr id="14" name="bottom-note"/>
          <p:cNvSpPr txBox="1"/>
          <p:nvPr/>
        </p:nvSpPr>
        <p:spPr>
          <a:xfrm>
            <a:off x="812800" y="6299200"/>
            <a:ext cx="105664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7A7264"/>
                </a:solidFill>
                <a:latin typeface="MiSans"/>
                <a:ea typeface="MiSans"/>
              </a:rPr>
              <a:t>评估采用「硬性资质 + 优选画像」双轨制：先看是否满足硬性准入，再看画像匹配度决定合作优先级。</a:t>
            </a:r>
            <a:endParaRPr lang="en-US" sz="1100" noProof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122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6096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 noProof="1" b="1" spc="300" kern="0">
                <a:solidFill>
                  <a:srgbClr val="D9A05B"/>
                </a:solidFill>
                <a:latin typeface="MiSans"/>
                <a:ea typeface="MiSans"/>
              </a:rPr>
              <a:t>07 ｜ 启动流程与联系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914400"/>
            <a:ext cx="105664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5000"/>
              </a:lnSpc>
            </a:pPr>
            <a:r>
              <a:rPr lang="en-US" sz="2800" noProof="1" b="1">
                <a:solidFill>
                  <a:srgbClr val="F6EFE2"/>
                </a:solidFill>
                <a:latin typeface="MiSans"/>
                <a:ea typeface="MiSans"/>
              </a:rPr>
              <a:t>七步，把设备铺进您的县城</a:t>
            </a:r>
            <a:endParaRPr lang="en-US" sz="2800" noProof="1"/>
          </a:p>
        </p:txBody>
      </p:sp>
      <p:sp>
        <p:nvSpPr>
          <p:cNvPr id="4" name="s1"/>
          <p:cNvSpPr txBox="1"/>
          <p:nvPr/>
        </p:nvSpPr>
        <p:spPr>
          <a:xfrm>
            <a:off x="812800" y="1778000"/>
            <a:ext cx="14732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 b="1">
                <a:solidFill>
                  <a:srgbClr val="C15F3C"/>
                </a:solidFill>
                <a:latin typeface="MiSans"/>
                <a:ea typeface="MiSans"/>
              </a:rPr>
              <a:t>01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lang="en-US" sz="1300" noProof="1" b="1">
                <a:solidFill>
                  <a:srgbClr val="F6EFE2"/>
                </a:solidFill>
                <a:latin typeface="MiSans"/>
                <a:ea typeface="MiSans"/>
              </a:rPr>
              <a:t>资信提交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lang="en-US" sz="1050" noProof="1">
                <a:solidFill>
                  <a:srgbClr val="A9B8B0"/>
                </a:solidFill>
                <a:latin typeface="MiSans"/>
                <a:ea typeface="MiSans"/>
              </a:rPr>
              <a:t>资质、财报与意向县区</a:t>
            </a:r>
            <a:endParaRPr lang="en-US" sz="1600" noProof="1"/>
          </a:p>
        </p:txBody>
      </p:sp>
      <p:sp>
        <p:nvSpPr>
          <p:cNvPr id="5" name="s2"/>
          <p:cNvSpPr txBox="1"/>
          <p:nvPr/>
        </p:nvSpPr>
        <p:spPr>
          <a:xfrm>
            <a:off x="2336800" y="1778000"/>
            <a:ext cx="14732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 b="1">
                <a:solidFill>
                  <a:srgbClr val="C15F3C"/>
                </a:solidFill>
                <a:latin typeface="MiSans"/>
                <a:ea typeface="MiSans"/>
              </a:rPr>
              <a:t>02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lang="en-US" sz="1300" noProof="1" b="1">
                <a:solidFill>
                  <a:srgbClr val="F6EFE2"/>
                </a:solidFill>
                <a:latin typeface="MiSans"/>
                <a:ea typeface="MiSans"/>
              </a:rPr>
              <a:t>审查尽调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lang="en-US" sz="1050" noProof="1">
                <a:solidFill>
                  <a:srgbClr val="A9B8B0"/>
                </a:solidFill>
                <a:latin typeface="MiSans"/>
                <a:ea typeface="MiSans"/>
              </a:rPr>
              <a:t>资质审核与县区评估定级</a:t>
            </a:r>
            <a:endParaRPr lang="en-US" sz="1600" noProof="1"/>
          </a:p>
        </p:txBody>
      </p:sp>
      <p:sp>
        <p:nvSpPr>
          <p:cNvPr id="6" name="s3"/>
          <p:cNvSpPr txBox="1"/>
          <p:nvPr/>
        </p:nvSpPr>
        <p:spPr>
          <a:xfrm>
            <a:off x="3860800" y="1778000"/>
            <a:ext cx="14732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 b="1">
                <a:solidFill>
                  <a:srgbClr val="C15F3C"/>
                </a:solidFill>
                <a:latin typeface="MiSans"/>
                <a:ea typeface="MiSans"/>
              </a:rPr>
              <a:t>03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lang="en-US" sz="1300" noProof="1" b="1">
                <a:solidFill>
                  <a:srgbClr val="F6EFE2"/>
                </a:solidFill>
                <a:latin typeface="MiSans"/>
                <a:ea typeface="MiSans"/>
              </a:rPr>
              <a:t>签约缴费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lang="en-US" sz="1050" noProof="1">
                <a:solidFill>
                  <a:srgbClr val="A9B8B0"/>
                </a:solidFill>
                <a:latin typeface="MiSans"/>
                <a:ea typeface="MiSans"/>
              </a:rPr>
              <a:t>代理与租赁协议、保证金与押金</a:t>
            </a:r>
            <a:endParaRPr lang="en-US" sz="1600" noProof="1"/>
          </a:p>
        </p:txBody>
      </p:sp>
      <p:sp>
        <p:nvSpPr>
          <p:cNvPr id="7" name="s4"/>
          <p:cNvSpPr txBox="1"/>
          <p:nvPr/>
        </p:nvSpPr>
        <p:spPr>
          <a:xfrm>
            <a:off x="5384800" y="1778000"/>
            <a:ext cx="14732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 b="1">
                <a:solidFill>
                  <a:srgbClr val="C15F3C"/>
                </a:solidFill>
                <a:latin typeface="MiSans"/>
                <a:ea typeface="MiSans"/>
              </a:rPr>
              <a:t>04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lang="en-US" sz="1300" noProof="1" b="1">
                <a:solidFill>
                  <a:srgbClr val="F6EFE2"/>
                </a:solidFill>
                <a:latin typeface="MiSans"/>
                <a:ea typeface="MiSans"/>
              </a:rPr>
              <a:t>交付验收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lang="en-US" sz="1050" noProof="1">
                <a:solidFill>
                  <a:srgbClr val="A9B8B0"/>
                </a:solidFill>
                <a:latin typeface="MiSans"/>
                <a:ea typeface="MiSans"/>
              </a:rPr>
              <a:t>首批设备 10 台 / 6 台交付</a:t>
            </a:r>
            <a:endParaRPr lang="en-US" sz="1600" noProof="1"/>
          </a:p>
        </p:txBody>
      </p:sp>
      <p:sp>
        <p:nvSpPr>
          <p:cNvPr id="8" name="s5"/>
          <p:cNvSpPr txBox="1"/>
          <p:nvPr/>
        </p:nvSpPr>
        <p:spPr>
          <a:xfrm>
            <a:off x="6908800" y="1778000"/>
            <a:ext cx="14732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 b="1">
                <a:solidFill>
                  <a:srgbClr val="C15F3C"/>
                </a:solidFill>
                <a:latin typeface="MiSans"/>
                <a:ea typeface="MiSans"/>
              </a:rPr>
              <a:t>05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lang="en-US" sz="1300" noProof="1" b="1">
                <a:solidFill>
                  <a:srgbClr val="F6EFE2"/>
                </a:solidFill>
                <a:latin typeface="MiSans"/>
                <a:ea typeface="MiSans"/>
              </a:rPr>
              <a:t>SaaS 开通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lang="en-US" sz="1050" noProof="1">
                <a:solidFill>
                  <a:srgbClr val="A9B8B0"/>
                </a:solidFill>
                <a:latin typeface="MiSans"/>
                <a:ea typeface="MiSans"/>
              </a:rPr>
              <a:t>开通系统、培训团队</a:t>
            </a:r>
            <a:endParaRPr lang="en-US" sz="1600" noProof="1"/>
          </a:p>
        </p:txBody>
      </p:sp>
      <p:sp>
        <p:nvSpPr>
          <p:cNvPr id="9" name="s6"/>
          <p:cNvSpPr txBox="1"/>
          <p:nvPr/>
        </p:nvSpPr>
        <p:spPr>
          <a:xfrm>
            <a:off x="8432800" y="1778000"/>
            <a:ext cx="14732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 b="1">
                <a:solidFill>
                  <a:srgbClr val="C15F3C"/>
                </a:solidFill>
                <a:latin typeface="MiSans"/>
                <a:ea typeface="MiSans"/>
              </a:rPr>
              <a:t>06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lang="en-US" sz="1300" noProof="1" b="1">
                <a:solidFill>
                  <a:srgbClr val="F6EFE2"/>
                </a:solidFill>
                <a:latin typeface="MiSans"/>
                <a:ea typeface="MiSans"/>
              </a:rPr>
              <a:t>联动运营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lang="en-US" sz="1050" noProof="1">
                <a:solidFill>
                  <a:srgbClr val="A9B8B0"/>
                </a:solidFill>
                <a:latin typeface="MiSans"/>
                <a:ea typeface="MiSans"/>
              </a:rPr>
              <a:t>拓点投放、数据陪跑</a:t>
            </a:r>
            <a:endParaRPr lang="en-US" sz="1600" noProof="1"/>
          </a:p>
        </p:txBody>
      </p:sp>
      <p:sp>
        <p:nvSpPr>
          <p:cNvPr id="10" name="s7"/>
          <p:cNvSpPr txBox="1"/>
          <p:nvPr/>
        </p:nvSpPr>
        <p:spPr>
          <a:xfrm>
            <a:off x="9956800" y="1778000"/>
            <a:ext cx="14224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 b="1">
                <a:solidFill>
                  <a:srgbClr val="C15F3C"/>
                </a:solidFill>
                <a:latin typeface="MiSans"/>
                <a:ea typeface="MiSans"/>
              </a:rPr>
              <a:t>07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lang="en-US" sz="1300" noProof="1" b="1">
                <a:solidFill>
                  <a:srgbClr val="F6EFE2"/>
                </a:solidFill>
                <a:latin typeface="MiSans"/>
                <a:ea typeface="MiSans"/>
              </a:rPr>
              <a:t>期满拥有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lang="en-US" sz="1050" noProof="1">
                <a:solidFill>
                  <a:srgbClr val="A9B8B0"/>
                </a:solidFill>
                <a:latin typeface="MiSans"/>
                <a:ea typeface="MiSans"/>
              </a:rPr>
              <a:t>三年期满设备归代理商</a:t>
            </a:r>
            <a:endParaRPr lang="en-US" sz="1600" noProof="1"/>
          </a:p>
        </p:txBody>
      </p:sp>
      <p:sp>
        <p:nvSpPr>
          <p:cNvPr id="11" name="steps-rule"/>
          <p:cNvSpPr/>
          <p:nvPr>
            <p:extLst>
              <p:ext uri="{F5677B7D-0D2A-4D9B-9A5C-6D8D7D0E5A5D}">
                <pptd:line encoding="base64url">eyJ2aWV3Qm94IjpbODMyLDJdLCJwb2ludHMiOiIwLDEgODMyLDEifQ</pptd:line>
              </p:ext>
            </p:extLst>
          </p:nvPr>
        </p:nvSpPr>
        <p:spPr>
          <a:xfrm>
            <a:off x="812800" y="3327400"/>
            <a:ext cx="10566400" cy="25400"/>
          </a:xfrm>
          <a:custGeom>
            <a:avLst/>
            <a:gdLst/>
            <a:ahLst/>
            <a:cxnLst/>
            <a:rect l="l" t="t" r="r" b="b"/>
            <a:pathLst>
              <a:path w="832" h="2">
                <a:moveTo>
                  <a:pt x="0" y="1"/>
                </a:moveTo>
                <a:lnTo>
                  <a:pt x="832" y="1"/>
                </a:lnTo>
              </a:path>
            </a:pathLst>
          </a:custGeom>
          <a:noFill/>
          <a:ln w="12700" cap="rnd">
            <a:solidFill>
              <a:srgbClr val="3A574C"/>
            </a:solidFill>
            <a:round/>
          </a:ln>
        </p:spPr>
      </p:sp>
      <p:sp>
        <p:nvSpPr>
          <p:cNvPr id="12" name="risk-title"/>
          <p:cNvSpPr txBox="1"/>
          <p:nvPr/>
        </p:nvSpPr>
        <p:spPr>
          <a:xfrm>
            <a:off x="812800" y="3581400"/>
            <a:ext cx="105664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C9BFA9"/>
                </a:solidFill>
                <a:latin typeface="MiSans"/>
                <a:ea typeface="MiSans"/>
              </a:rPr>
              <a:t>风险提示与合规说明</a:t>
            </a:r>
            <a:endParaRPr lang="en-US" sz="1300" noProof="1"/>
          </a:p>
        </p:txBody>
      </p:sp>
      <p:sp>
        <p:nvSpPr>
          <p:cNvPr id="13" name="risk-body"/>
          <p:cNvSpPr txBox="1"/>
          <p:nvPr/>
        </p:nvSpPr>
        <p:spPr>
          <a:xfrm>
            <a:off x="812800" y="3937000"/>
            <a:ext cx="10566400" cy="1219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70000"/>
              </a:lnSpc>
            </a:pPr>
            <a:r>
              <a:rPr lang="en-US" sz="1150" noProof="1">
                <a:solidFill>
                  <a:srgbClr val="A9B8B0"/>
                </a:solidFill>
                <a:latin typeface="MiSans"/>
                <a:ea typeface="MiSans"/>
              </a:rPr>
              <a:t>· </a:t>
            </a:r>
            <a:r>
              <a:rPr lang="en-US" sz="1150" noProof="1" b="1">
                <a:solidFill>
                  <a:srgbClr val="A9B8B0"/>
                </a:solidFill>
                <a:latin typeface="MiSans"/>
                <a:ea typeface="MiSans"/>
              </a:rPr>
              <a:t>不承诺收益</a:t>
            </a:r>
            <a:r>
              <a:rPr lang="en-US" sz="1150" noProof="1">
                <a:solidFill>
                  <a:srgbClr val="A9B8B0"/>
                </a:solidFill>
                <a:latin typeface="MiSans"/>
                <a:ea typeface="MiSans"/>
              </a:rPr>
              <a:t>：不承诺「躺赚」「稳赚」「几个月必回本」，不把理论最高杯量当平均值；</a:t>
            </a:r>
            <a:endParaRPr lang="en-US" sz="1150" noProof="1"/>
          </a:p>
          <a:p>
            <a:pPr>
              <a:lnSpc>
                <a:spcPct val="170000"/>
              </a:lnSpc>
            </a:pPr>
            <a:r>
              <a:rPr lang="en-US" sz="1150" noProof="1">
                <a:solidFill>
                  <a:srgbClr val="A9B8B0"/>
                </a:solidFill>
                <a:latin typeface="MiSans"/>
                <a:ea typeface="MiSans"/>
              </a:rPr>
              <a:t>· </a:t>
            </a:r>
            <a:r>
              <a:rPr lang="en-US" sz="1150" noProof="1" b="1">
                <a:solidFill>
                  <a:srgbClr val="A9B8B0"/>
                </a:solidFill>
                <a:latin typeface="MiSans"/>
                <a:ea typeface="MiSans"/>
              </a:rPr>
              <a:t>点位可调整</a:t>
            </a:r>
            <a:r>
              <a:rPr lang="en-US" sz="1150" noProof="1">
                <a:solidFill>
                  <a:srgbClr val="A9B8B0"/>
                </a:solidFill>
                <a:latin typeface="MiSans"/>
                <a:ea typeface="MiSans"/>
              </a:rPr>
              <a:t>：长期不达标的低效点位可申请迁点，不让已签门店绑架设备资产；</a:t>
            </a:r>
            <a:endParaRPr lang="en-US" sz="1150" noProof="1"/>
          </a:p>
          <a:p>
            <a:pPr>
              <a:lnSpc>
                <a:spcPct val="170000"/>
              </a:lnSpc>
            </a:pPr>
            <a:r>
              <a:rPr lang="en-US" sz="1150" noProof="1">
                <a:solidFill>
                  <a:srgbClr val="A9B8B0"/>
                </a:solidFill>
                <a:latin typeface="MiSans"/>
                <a:ea typeface="MiSans"/>
              </a:rPr>
              <a:t>· </a:t>
            </a:r>
            <a:r>
              <a:rPr lang="en-US" sz="1150" noProof="1" b="1">
                <a:solidFill>
                  <a:srgbClr val="A9B8B0"/>
                </a:solidFill>
                <a:latin typeface="MiSans"/>
                <a:ea typeface="MiSans"/>
              </a:rPr>
              <a:t>退出机制</a:t>
            </a:r>
            <a:r>
              <a:rPr lang="en-US" sz="1150" noProof="1">
                <a:solidFill>
                  <a:srgbClr val="A9B8B0"/>
                </a:solidFill>
                <a:latin typeface="MiSans"/>
                <a:ea typeface="MiSans"/>
              </a:rPr>
              <a:t>：未达考核标准的县区取消区域保护，保证金按合同约定处理；</a:t>
            </a:r>
            <a:endParaRPr lang="en-US" sz="1150" noProof="1"/>
          </a:p>
          <a:p>
            <a:pPr>
              <a:lnSpc>
                <a:spcPct val="170000"/>
              </a:lnSpc>
            </a:pPr>
            <a:r>
              <a:rPr lang="en-US" sz="1150" noProof="1">
                <a:solidFill>
                  <a:srgbClr val="A9B8B0"/>
                </a:solidFill>
                <a:latin typeface="MiSans"/>
                <a:ea typeface="MiSans"/>
              </a:rPr>
              <a:t>· </a:t>
            </a:r>
            <a:r>
              <a:rPr lang="en-US" sz="1150" noProof="1" b="1">
                <a:solidFill>
                  <a:srgbClr val="A9B8B0"/>
                </a:solidFill>
                <a:latin typeface="MiSans"/>
                <a:ea typeface="MiSans"/>
              </a:rPr>
              <a:t>食品安全</a:t>
            </a:r>
            <a:r>
              <a:rPr lang="en-US" sz="1150" noProof="1">
                <a:solidFill>
                  <a:srgbClr val="A9B8B0"/>
                </a:solidFill>
                <a:latin typeface="MiSans"/>
                <a:ea typeface="MiSans"/>
              </a:rPr>
              <a:t>：自动设备现制现售涉及食品经营许可 / 备案与属地要求，代理商须配合完成属地合规手续。具体条款以正式合同为准。</a:t>
            </a:r>
            <a:endParaRPr lang="en-US" sz="1150" noProof="1"/>
          </a:p>
        </p:txBody>
      </p:sp>
      <p:sp>
        <p:nvSpPr>
          <p:cNvPr id="14" name="contact-rule"/>
          <p:cNvSpPr/>
          <p:nvPr>
            <p:extLst>
              <p:ext uri="{F5677B7D-0D2A-4D9B-9A5C-6D8D7D0E5A5D}">
                <pptd:line encoding="base64url">eyJ2aWV3Qm94IjpbODMyLDJdLCJwb2ludHMiOiIwLDEgODMyLDEifQ</pptd:line>
              </p:ext>
            </p:extLst>
          </p:nvPr>
        </p:nvSpPr>
        <p:spPr>
          <a:xfrm>
            <a:off x="812800" y="5384800"/>
            <a:ext cx="10566400" cy="25400"/>
          </a:xfrm>
          <a:custGeom>
            <a:avLst/>
            <a:gdLst/>
            <a:ahLst/>
            <a:cxnLst/>
            <a:rect l="l" t="t" r="r" b="b"/>
            <a:pathLst>
              <a:path w="832" h="2">
                <a:moveTo>
                  <a:pt x="0" y="1"/>
                </a:moveTo>
                <a:lnTo>
                  <a:pt x="832" y="1"/>
                </a:lnTo>
              </a:path>
            </a:pathLst>
          </a:custGeom>
          <a:noFill/>
          <a:ln w="19050" cap="rnd">
            <a:solidFill>
              <a:srgbClr val="C15F3C"/>
            </a:solidFill>
            <a:round/>
          </a:ln>
        </p:spPr>
      </p:sp>
      <p:sp>
        <p:nvSpPr>
          <p:cNvPr id="15" name="contact"/>
          <p:cNvSpPr txBox="1"/>
          <p:nvPr/>
        </p:nvSpPr>
        <p:spPr>
          <a:xfrm>
            <a:off x="812800" y="5638800"/>
            <a:ext cx="105664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800" noProof="1" b="1">
                <a:solidFill>
                  <a:srgbClr val="F6EFE2"/>
                </a:solidFill>
                <a:latin typeface="MiSans"/>
                <a:ea typeface="MiSans"/>
              </a:rPr>
              <a:t>捷翔饮品（上海）</a:t>
            </a:r>
            <a:r>
              <a:rPr lang="en-US" sz="1300" noProof="1">
                <a:solidFill>
                  <a:srgbClr val="C9BFA9"/>
                </a:solidFill>
                <a:latin typeface="MiSans"/>
                <a:ea typeface="MiSans"/>
              </a:rPr>
              <a:t>　智能果昔机原创发明人 · 果音 / Hey Yogurt 品牌运营方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lang="en-US" sz="1400" noProof="1" b="1">
                <a:solidFill>
                  <a:srgbClr val="C15F3C"/>
                </a:solidFill>
                <a:latin typeface="MiSans"/>
                <a:ea typeface="MiSans"/>
              </a:rPr>
              <a:t>全国县市代理招商 ｜ 联系人：王根祖</a:t>
            </a:r>
            <a:r>
              <a:rPr lang="en-US" sz="1200" noProof="1">
                <a:solidFill>
                  <a:srgbClr val="A9B8B0"/>
                </a:solidFill>
                <a:latin typeface="MiSans"/>
                <a:ea typeface="MiSans"/>
              </a:rPr>
              <a:t>　欢迎咨询，具体条款以双方签订的正式合同为准</a:t>
            </a:r>
            <a:endParaRPr lang="en-US" sz="16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Slides>17</Slides>
</Properties>
</file>

<file path=docProps/core.xml><?xml version="1.0" encoding="utf-8"?>
<cp:coreProperties xmlns:dc="http://purl.org/dc/elements/1.1/" xmlns:cp="http://schemas.openxmlformats.org/package/2006/metadata/core-properties">
  <dc:title>智能果昔机 · 县市级代理商招商方案</dc:title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